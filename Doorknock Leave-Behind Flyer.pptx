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2331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2331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28600"/>
            <a:ext cx="6217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Is now the right time
to sell your landed home?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9A84C"/>
                </a:solidFill>
                <a:latin typeface="Calibri"/>
              </a:rPr>
              <a:t>Singapore's landed market is performing strongly — and serious buyers are actively looking in your estate.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897880" y="201168"/>
            <a:ext cx="1481328" cy="1874519"/>
          </a:xfrm>
          <a:prstGeom prst="rect">
            <a:avLst/>
          </a:prstGeom>
          <a:solidFill>
            <a:srgbClr val="162338"/>
          </a:solidFill>
          <a:ln w="9525">
            <a:solidFill>
              <a:srgbClr val="2E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274320"/>
            <a:ext cx="138988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9A84C"/>
                </a:solidFill>
                <a:latin typeface="Calibri"/>
              </a:rPr>
              <a:t>ERA SINGAPORE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3328" y="594360"/>
            <a:ext cx="10972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676656"/>
            <a:ext cx="13898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[Agent Name]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960120"/>
            <a:ext cx="1389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BED4"/>
                </a:solidFill>
                <a:latin typeface="Calibri"/>
              </a:rPr>
              <a:t>[CEA Reg. No.]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188720"/>
            <a:ext cx="1389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9A84C"/>
                </a:solidFill>
                <a:latin typeface="Calibri"/>
              </a:rPr>
              <a:t>[Mobile No.]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426464"/>
            <a:ext cx="13898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B0BED4"/>
                </a:solidFill>
                <a:latin typeface="Calibri"/>
              </a:rPr>
              <a:t>[Email]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664208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4748B"/>
                </a:solidFill>
                <a:latin typeface="Calibri"/>
              </a:rPr>
              <a:t>[WhatsApp QR]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50592"/>
            <a:ext cx="1552193" cy="1024128"/>
          </a:xfrm>
          <a:prstGeom prst="rect">
            <a:avLst/>
          </a:prstGeom>
          <a:solidFill>
            <a:srgbClr val="FDF6E3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514600"/>
            <a:ext cx="144246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+6.7%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944368"/>
            <a:ext cx="144246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landed price growth
year-on-year (2025)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19122" y="2450592"/>
            <a:ext cx="1552193" cy="1024128"/>
          </a:xfrm>
          <a:prstGeom prst="rect">
            <a:avLst/>
          </a:prstGeom>
          <a:solidFill>
            <a:srgbClr val="FDF6E3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73986" y="2514600"/>
            <a:ext cx="144246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+73%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3986" y="2944368"/>
            <a:ext cx="144246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URA landed price index
Q1 2019 → Q1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1044" y="2450592"/>
            <a:ext cx="1552193" cy="1024128"/>
          </a:xfrm>
          <a:prstGeom prst="rect">
            <a:avLst/>
          </a:prstGeom>
          <a:solidFill>
            <a:srgbClr val="FDF6E3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35907" y="2514600"/>
            <a:ext cx="144246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~75,000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5907" y="2944368"/>
            <a:ext cx="144246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landed homes in SG
(only 5–6% of all housing)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2966" y="2450592"/>
            <a:ext cx="1552193" cy="1024128"/>
          </a:xfrm>
          <a:prstGeom prst="rect">
            <a:avLst/>
          </a:prstGeom>
          <a:solidFill>
            <a:srgbClr val="FDF6E3"/>
          </a:solidFill>
          <a:ln w="127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97829" y="2514600"/>
            <a:ext cx="144246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2A4A"/>
                </a:solidFill>
                <a:latin typeface="Calibri"/>
              </a:rPr>
              <a:t>+46%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7829" y="2944368"/>
            <a:ext cx="144246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ultra-wealthy buyer count
forecast by 2031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6393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WHY SELLERS ARE MOVING NOW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13632"/>
            <a:ext cx="4389120" cy="2395728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6928" y="4059935"/>
            <a:ext cx="237744" cy="23774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4059935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A84C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04164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  <a:latin typeface="Calibri"/>
              </a:rPr>
              <a:t>Prices up 6.7% YoY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23367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Strong market recovery after seasonal Q1 dip — Q2/Q3 is peak demand.</a:t>
            </a:r>
          </a:p>
        </p:txBody>
      </p:sp>
      <p:sp>
        <p:nvSpPr>
          <p:cNvPr id="32" name="Oval 31"/>
          <p:cNvSpPr/>
          <p:nvPr/>
        </p:nvSpPr>
        <p:spPr>
          <a:xfrm>
            <a:off x="566928" y="4498847"/>
            <a:ext cx="237744" cy="23774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498847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A84C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480559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  <a:latin typeface="Calibri"/>
              </a:rPr>
              <a:t>Declining interest rates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4672583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SORA falling → buyer affordability improving → larger qualified buyer pool.</a:t>
            </a:r>
          </a:p>
        </p:txBody>
      </p:sp>
      <p:sp>
        <p:nvSpPr>
          <p:cNvPr id="36" name="Oval 35"/>
          <p:cNvSpPr/>
          <p:nvPr/>
        </p:nvSpPr>
        <p:spPr>
          <a:xfrm>
            <a:off x="566928" y="4937759"/>
            <a:ext cx="237744" cy="23774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4937759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A84C"/>
                </a:solidFill>
                <a:latin typeface="Calibr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4919472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  <a:latin typeface="Calibri"/>
              </a:rPr>
              <a:t>Wealthiest buyer base ever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5111496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Singapore UHNWI count up 55% in 5 years. Forecast: +46% more by 2031.</a:t>
            </a:r>
          </a:p>
        </p:txBody>
      </p:sp>
      <p:sp>
        <p:nvSpPr>
          <p:cNvPr id="40" name="Oval 39"/>
          <p:cNvSpPr/>
          <p:nvPr/>
        </p:nvSpPr>
        <p:spPr>
          <a:xfrm>
            <a:off x="566928" y="5376672"/>
            <a:ext cx="237744" cy="23774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537667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A84C"/>
                </a:solidFill>
                <a:latin typeface="Calibr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" y="5358384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  <a:latin typeface="Calibri"/>
              </a:rPr>
              <a:t>Supply stays scarce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" y="5550408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Landed stock grew only 12% in 25 years vs 228% for non-landed condos.</a:t>
            </a:r>
          </a:p>
        </p:txBody>
      </p:sp>
      <p:sp>
        <p:nvSpPr>
          <p:cNvPr id="44" name="Oval 43"/>
          <p:cNvSpPr/>
          <p:nvPr/>
        </p:nvSpPr>
        <p:spPr>
          <a:xfrm>
            <a:off x="566928" y="5815583"/>
            <a:ext cx="237744" cy="237744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6928" y="5815583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9A84C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" y="57972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B2A4A"/>
                </a:solidFill>
                <a:latin typeface="Calibri"/>
              </a:rPr>
              <a:t>60% ABSD for foreigners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" y="598932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  <a:latin typeface="Calibri"/>
              </a:rPr>
              <a:t>Landed stays exclusive to locals/PRs — buyers compete in a motivated pool.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3639312"/>
            <a:ext cx="2359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MEDIAN PRICES (1Q 2026)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3913632"/>
            <a:ext cx="2359152" cy="2395728"/>
          </a:xfrm>
          <a:prstGeom prst="rect">
            <a:avLst/>
          </a:prstGeom>
          <a:solidFill>
            <a:srgbClr val="F4F6FA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20640" y="4005072"/>
            <a:ext cx="215798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93792" y="4050791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OCR Terrace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050791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A84C"/>
                </a:solidFill>
                <a:latin typeface="Calibri"/>
              </a:rPr>
              <a:t>$4.44M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4553712"/>
            <a:ext cx="215798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93792" y="4599431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OCR Semi-D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599431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A84C"/>
                </a:solidFill>
                <a:latin typeface="Calibri"/>
              </a:rPr>
              <a:t>$5.75M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5102352"/>
            <a:ext cx="215798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93792" y="514807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RCR Detached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51480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A84C"/>
                </a:solidFill>
                <a:latin typeface="Calibri"/>
              </a:rPr>
              <a:t>$10.9M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5650992"/>
            <a:ext cx="2157984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93792" y="569671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B2A4A"/>
                </a:solidFill>
                <a:latin typeface="Calibri"/>
              </a:rPr>
              <a:t>CCR Detached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56967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C9A84C"/>
                </a:solidFill>
                <a:latin typeface="Calibri"/>
              </a:rPr>
              <a:t>$16.8M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6144768"/>
            <a:ext cx="23591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  <a:latin typeface="Calibri"/>
              </a:rPr>
              <a:t>Source: ERA Research 1Q 2026 Landed Report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446520"/>
            <a:ext cx="7562088" cy="120700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256032" cy="1207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1480" y="6492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A84C"/>
                </a:solidFill>
                <a:latin typeface="Calibri"/>
              </a:rPr>
              <a:t>WHAT YOUR HOME COULD BE WORTH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6766560"/>
            <a:ext cx="6858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Based on recent comparable transactions in your estate, similar homes have transacted at $[X]M–$[Y]M. After settling your CPF refund and any outstanding mortgage, most sellers in this estate are walking away with $[Z]M or more in cash proceeds.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7818120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HOW IT WORKS — THREE SIMPLE STEPS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8119872"/>
            <a:ext cx="2078736" cy="1417320"/>
          </a:xfrm>
          <a:prstGeom prst="rect">
            <a:avLst/>
          </a:prstGeom>
          <a:solidFill>
            <a:srgbClr val="FDF6E3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313688" y="8183879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13688" y="81838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8613648"/>
            <a:ext cx="1895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  <a:latin typeface="Calibri"/>
              </a:rPr>
              <a:t>Free property assessment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8887968"/>
            <a:ext cx="1895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I visit, assess condition, pull the latest comps and give you an honest, no-obligation valuation.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73096" y="8119872"/>
            <a:ext cx="2078736" cy="1417320"/>
          </a:xfrm>
          <a:prstGeom prst="rect">
            <a:avLst/>
          </a:prstGeom>
          <a:solidFill>
            <a:srgbClr val="FDF6E3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529584" y="8183879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529584" y="81838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Calibr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64536" y="8613648"/>
            <a:ext cx="1895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  <a:latin typeface="Calibri"/>
              </a:rPr>
              <a:t>Marketing strategy meeting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64536" y="8887968"/>
            <a:ext cx="1895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We agree on the right price and approach. I'll show you exactly who the buyers are and how I'll reach them.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888992" y="8119872"/>
            <a:ext cx="2078736" cy="1417320"/>
          </a:xfrm>
          <a:prstGeom prst="rect">
            <a:avLst/>
          </a:prstGeom>
          <a:solidFill>
            <a:srgbClr val="FDF6E3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745480" y="8183879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745480" y="81838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9A84C"/>
                </a:solidFill>
                <a:latin typeface="Calibri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80432" y="8613648"/>
            <a:ext cx="1895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B2A4A"/>
                </a:solidFill>
                <a:latin typeface="Calibri"/>
              </a:rPr>
              <a:t>Sign listing &amp; launch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80432" y="8887968"/>
            <a:ext cx="18958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Photography within 5 days. Listing live within 7 days. Active buyer outreach starts immediately.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9674352"/>
            <a:ext cx="7562088" cy="1014984"/>
          </a:xfrm>
          <a:prstGeom prst="rect">
            <a:avLst/>
          </a:prstGeom>
          <a:solidFill>
            <a:srgbClr val="16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0" y="9674352"/>
            <a:ext cx="256032" cy="10149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11480" y="9738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[Agent Name]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1480" y="1002182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ED4"/>
                </a:solidFill>
                <a:latin typeface="Calibri"/>
              </a:rPr>
              <a:t>ERA Singapore  |  CEA Reg. No. [XXXXX]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49039" y="973836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A84C"/>
                </a:solidFill>
                <a:latin typeface="Calibri"/>
              </a:rPr>
              <a:t>[Mobile / WhatsApp]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49039" y="1000353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D4"/>
                </a:solidFill>
                <a:latin typeface="Calibri"/>
              </a:rPr>
              <a:t>[Email Address]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10405872"/>
            <a:ext cx="673912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1">
                <a:solidFill>
                  <a:srgbClr val="64748B"/>
                </a:solidFill>
                <a:latin typeface="Calibri"/>
              </a:rPr>
              <a:t>Data sourced from ERA Research, URA REALIS and Knight Frank (2026). This flyer is for informational purposes only and does not constitute a formal 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