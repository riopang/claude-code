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 snapToObjects="1">
      <p:cViewPr>
        <p:scale>
          <a:sx n="97" d="100"/>
          <a:sy n="97" d="100"/>
        </p:scale>
        <p:origin x="2656" y="-1072"/>
      </p:cViewPr>
      <p:guideLst>
        <p:guide orient="horz" pos="2160"/>
        <p:guide pos="2880"/>
      </p:guideLst>
    </p:cSldViewPr>
  </p:slideViewPr>
  <p:notesTextViewPr>
    <p:cViewPr>
      <p:scale>
        <a:sx n="195" d="100"/>
        <a:sy n="19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4A353-551F-DA40-88C5-95E609E26DE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330A47-8819-B149-9DB7-95F42AA22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337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330A47-8819-B149-9DB7-95F42AA22DD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224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88F2A-5758-A010-B390-4F477F24A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E1E70-F5DF-EDF8-361D-FA8AB35B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754189-3F92-19A5-A8EF-4EB260F12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03FBC-22A7-3EC6-875C-6AA8E578E6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330A47-8819-B149-9DB7-95F42AA22DD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38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1020" y="-15923"/>
            <a:ext cx="7562088" cy="1813935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-10510" y="-21020"/>
            <a:ext cx="256032" cy="181393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Calibri"/>
              </a:rPr>
              <a:t>Is now the right time
to sell your landed home?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978988"/>
            <a:ext cx="54010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 dirty="0">
                <a:solidFill>
                  <a:srgbClr val="C9A84C"/>
                </a:solidFill>
                <a:latin typeface="Calibri"/>
              </a:rPr>
              <a:t>Thomson Garden Estate has seen 21 transactions in the last 12 </a:t>
            </a:r>
            <a:r>
              <a:rPr lang="en-US" sz="1050" b="0" i="1" dirty="0">
                <a:solidFill>
                  <a:srgbClr val="C9A84C"/>
                </a:solidFill>
                <a:latin typeface="Calibri"/>
              </a:rPr>
              <a:t>months,</a:t>
            </a:r>
            <a:r>
              <a:rPr sz="1050" b="0" i="1" dirty="0">
                <a:solidFill>
                  <a:srgbClr val="C9A84C"/>
                </a:solidFill>
                <a:latin typeface="Calibri"/>
              </a:rPr>
              <a:t>  and </a:t>
            </a:r>
            <a:r>
              <a:rPr lang="en-US" sz="1050" b="0" i="1" dirty="0">
                <a:solidFill>
                  <a:srgbClr val="C9A84C"/>
                </a:solidFill>
                <a:latin typeface="Calibri"/>
              </a:rPr>
              <a:t>we have </a:t>
            </a:r>
            <a:r>
              <a:rPr sz="1050" b="0" i="1" dirty="0">
                <a:solidFill>
                  <a:srgbClr val="C9A84C"/>
                </a:solidFill>
                <a:latin typeface="Calibri"/>
              </a:rPr>
              <a:t>serious buyers are actively looking here.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985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3849" y="2143776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+6.7%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3849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landed price growth
year-on-year 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80907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35771" y="2149913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+73%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5771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URA landed price index
Q1 2019 → Q1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2829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87963" y="2026039"/>
            <a:ext cx="16047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2</a:t>
            </a:r>
            <a:r>
              <a:rPr lang="en-US" sz="2000" b="1" i="0" dirty="0">
                <a:solidFill>
                  <a:srgbClr val="1B2A4A"/>
                </a:solidFill>
                <a:latin typeface="Calibri"/>
              </a:rPr>
              <a:t>1</a:t>
            </a:r>
            <a:endParaRPr sz="2000" b="1" i="0" dirty="0">
              <a:solidFill>
                <a:srgbClr val="1B2A4A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897692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Thomson Garden Estate
last 12 months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04751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59614" y="2149913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+46%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614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ultra-wealthy buyer count
forecast by 2031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1320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C9A84C"/>
                </a:solidFill>
                <a:latin typeface="Calibri"/>
              </a:rPr>
              <a:t>WHY SELLERS ARE MOVING NOW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2155"/>
            <a:ext cx="4389120" cy="2395728"/>
          </a:xfrm>
          <a:prstGeom prst="rect">
            <a:avLst/>
          </a:prstGeom>
          <a:solidFill>
            <a:srgbClr val="F4F6FA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66928" y="3772134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77213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37152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Prices up 6.7% YoY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3841214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Strong market recovery — Q2/Q3 is peak transaction season.</a:t>
            </a:r>
          </a:p>
        </p:txBody>
      </p:sp>
      <p:sp>
        <p:nvSpPr>
          <p:cNvPr id="31" name="Oval 30"/>
          <p:cNvSpPr/>
          <p:nvPr/>
        </p:nvSpPr>
        <p:spPr>
          <a:xfrm>
            <a:off x="566928" y="4275845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4275845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4215188"/>
            <a:ext cx="1868424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Declining interest rates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4341116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SORA falling → buyer affordability improving → larger qualified buyer pool.</a:t>
            </a:r>
          </a:p>
        </p:txBody>
      </p:sp>
      <p:sp>
        <p:nvSpPr>
          <p:cNvPr id="35" name="Oval 34"/>
          <p:cNvSpPr/>
          <p:nvPr/>
        </p:nvSpPr>
        <p:spPr>
          <a:xfrm>
            <a:off x="566928" y="4838474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483847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4788629"/>
            <a:ext cx="2155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Wealthiest buyer base ever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" y="4919496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Singapore UHNWI count up 55% in 5 years. Forecast: +46% more by 2031.</a:t>
            </a:r>
          </a:p>
        </p:txBody>
      </p:sp>
      <p:sp>
        <p:nvSpPr>
          <p:cNvPr id="39" name="Oval 38"/>
          <p:cNvSpPr/>
          <p:nvPr/>
        </p:nvSpPr>
        <p:spPr>
          <a:xfrm>
            <a:off x="566928" y="5406793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5406793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535390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Supply stays scarce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" y="5486467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Landed stock grew only 12% in 25 years vs 228% for non-landed condos.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3327835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THOMSON GARDEN ESTATE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3442135"/>
            <a:ext cx="23591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 dirty="0">
                <a:solidFill>
                  <a:srgbClr val="64748B"/>
                </a:solidFill>
                <a:latin typeface="Calibri"/>
              </a:rPr>
              <a:t>Jun 2025 – Jun 2026 · Freehold D20</a:t>
            </a:r>
            <a:endParaRPr lang="en-US" sz="700" b="0" i="1" dirty="0">
              <a:solidFill>
                <a:srgbClr val="64748B"/>
              </a:solidFill>
              <a:latin typeface="Calibri"/>
            </a:endParaRPr>
          </a:p>
          <a:p>
            <a:pPr algn="l"/>
            <a:endParaRPr sz="700" b="0" i="1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029200" y="3602155"/>
            <a:ext cx="2359152" cy="2395728"/>
          </a:xfrm>
          <a:prstGeom prst="rect">
            <a:avLst/>
          </a:prstGeom>
          <a:solidFill>
            <a:srgbClr val="F4F6FA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120640" y="369359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193791" y="3739316"/>
            <a:ext cx="174650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1B2A4A"/>
                </a:solidFill>
                <a:latin typeface="Calibri"/>
              </a:rPr>
              <a:t>Terrace (</a:t>
            </a:r>
            <a:r>
              <a:rPr lang="en-US" sz="900" b="0" i="0" dirty="0">
                <a:solidFill>
                  <a:srgbClr val="1B2A4A"/>
                </a:solidFill>
                <a:latin typeface="Calibri"/>
              </a:rPr>
              <a:t>small &amp; </a:t>
            </a:r>
            <a:r>
              <a:rPr sz="900" b="0" i="0" dirty="0">
                <a:solidFill>
                  <a:srgbClr val="1B2A4A"/>
                </a:solidFill>
                <a:latin typeface="Calibri"/>
              </a:rPr>
              <a:t>typical)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3792" y="386759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$2.65M–$4.35M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20640" y="424223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193792" y="4287955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Terrace (large)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93792" y="4416237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$4.35M–$6.25M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20640" y="479087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193792" y="48365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Semi-D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93792" y="495825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$5.70M–$7.20M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0" y="533951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193792" y="538523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Avg Land PSF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93792" y="551351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$3,151 </a:t>
            </a:r>
            <a:r>
              <a:rPr sz="1200" b="1" i="0" dirty="0" err="1">
                <a:solidFill>
                  <a:srgbClr val="C9A84C"/>
                </a:solidFill>
                <a:latin typeface="Calibri"/>
              </a:rPr>
              <a:t>psf</a:t>
            </a:r>
            <a:endParaRPr sz="1200" b="1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029200" y="6254496"/>
            <a:ext cx="23591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64748B"/>
                </a:solidFill>
                <a:latin typeface="Calibri"/>
              </a:rPr>
              <a:t>Source: URA REALIS (Jun 2025–Jun 2026)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1020" y="6236208"/>
            <a:ext cx="7562088" cy="104241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-10510" y="6236208"/>
            <a:ext cx="256032" cy="10424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11480" y="63093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 dirty="0">
                <a:solidFill>
                  <a:srgbClr val="C9A84C"/>
                </a:solidFill>
                <a:latin typeface="Calibri"/>
              </a:rPr>
              <a:t>WHAT YOUR HOME COULD BE WORTH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6583680"/>
            <a:ext cx="68580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Based on 21 transactions in Thomson Garden Estate over the last 12 months, freehold terraces have transacted between $2.65M–$6.25M and semi-detached homes at $5.70M–$7.20M. Average land PSF: $3,151. Call me for a complimentary, no-obligation valuation of your specific home.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6481" y="7398688"/>
            <a:ext cx="246026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C9A84C"/>
                </a:solidFill>
                <a:latin typeface="Calibri"/>
              </a:rPr>
              <a:t>HOW IT WORKS — THREE SIMPLE STEPS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0472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609237" y="7755304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0" name="TextBox 69"/>
          <p:cNvSpPr txBox="1"/>
          <p:nvPr/>
        </p:nvSpPr>
        <p:spPr>
          <a:xfrm>
            <a:off x="1609237" y="77553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C9A84C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205" y="8185072"/>
            <a:ext cx="175559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B2A4A"/>
                </a:solidFill>
                <a:latin typeface="Calibri"/>
              </a:rPr>
              <a:t>Free property assessment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9205" y="8459392"/>
            <a:ext cx="1755593" cy="484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5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 visit, assess condition, pull the latest comps and give you an </a:t>
            </a:r>
            <a:r>
              <a:rPr lang="en-US" sz="850" dirty="0">
                <a:solidFill>
                  <a:srgbClr val="64748B"/>
                </a:solidFill>
                <a:latin typeface="Calibri"/>
              </a:rPr>
              <a:t>indicative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valuation.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93399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572062" y="7760785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572062" y="776078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C9A84C"/>
                </a:solidFill>
                <a:latin typeface="Calibri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93398" y="8185072"/>
            <a:ext cx="1755593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 dirty="0">
                <a:solidFill>
                  <a:srgbClr val="1B2A4A"/>
                </a:solidFill>
                <a:latin typeface="Calibri"/>
              </a:rPr>
              <a:t>Marketing strategy meeting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93399" y="8459392"/>
            <a:ext cx="175559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50" b="0" i="0" dirty="0">
                <a:solidFill>
                  <a:srgbClr val="64748B"/>
                </a:solidFill>
                <a:latin typeface="Calibri"/>
              </a:rPr>
              <a:t>Discuss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on the right </a:t>
            </a:r>
            <a:r>
              <a:rPr lang="en-US" sz="850" b="0" i="0" dirty="0">
                <a:solidFill>
                  <a:srgbClr val="64748B"/>
                </a:solidFill>
                <a:latin typeface="Calibri"/>
              </a:rPr>
              <a:t>strategy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and approach. </a:t>
            </a:r>
            <a:r>
              <a:rPr lang="en-US" sz="85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'll show you exactly who the buyers are and how </a:t>
            </a:r>
            <a:r>
              <a:rPr lang="en-US" sz="850" b="0" i="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'll reach them.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876326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5589107" y="7760785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589107" y="776078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76327" y="8185072"/>
            <a:ext cx="175559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50" b="1" dirty="0">
                <a:solidFill>
                  <a:srgbClr val="1B2A4A"/>
                </a:solidFill>
                <a:latin typeface="Calibri"/>
              </a:rPr>
              <a:t>L</a:t>
            </a:r>
            <a:r>
              <a:rPr sz="950" b="1" i="0" dirty="0">
                <a:solidFill>
                  <a:srgbClr val="1B2A4A"/>
                </a:solidFill>
                <a:latin typeface="Calibri"/>
              </a:rPr>
              <a:t>isting &amp; launch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76325" y="8459392"/>
            <a:ext cx="175559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>
                <a:solidFill>
                  <a:srgbClr val="64748B"/>
                </a:solidFill>
                <a:latin typeface="Calibri"/>
              </a:rPr>
              <a:t>Professional photography within 5 days. Listing live within 7 days. Active buyer outreach starts immediately.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430" y="9423948"/>
            <a:ext cx="7562088" cy="987552"/>
          </a:xfrm>
          <a:prstGeom prst="rect">
            <a:avLst/>
          </a:prstGeom>
          <a:solidFill>
            <a:srgbClr val="16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-7144" y="9442236"/>
            <a:ext cx="256032" cy="9875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218997" y="9515629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Rio Pang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18997" y="9870688"/>
            <a:ext cx="1165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br>
              <a:rPr lang="en-US" sz="600" b="0" i="0" dirty="0">
                <a:solidFill>
                  <a:srgbClr val="B0BED4"/>
                </a:solidFill>
                <a:latin typeface="Calibri"/>
              </a:rPr>
            </a:br>
            <a:r>
              <a:rPr sz="600" b="0" i="0" dirty="0">
                <a:solidFill>
                  <a:srgbClr val="B0BED4"/>
                </a:solidFill>
                <a:latin typeface="Calibri"/>
              </a:rPr>
              <a:t>R070214</a:t>
            </a:r>
            <a:r>
              <a:rPr lang="en-US" sz="600" b="0" i="0" dirty="0">
                <a:solidFill>
                  <a:srgbClr val="B0BED4"/>
                </a:solidFill>
                <a:latin typeface="Calibri"/>
              </a:rPr>
              <a:t>B</a:t>
            </a:r>
            <a:endParaRPr sz="600" b="0" i="0" dirty="0">
              <a:solidFill>
                <a:srgbClr val="B0BED4"/>
              </a:solidFill>
              <a:latin typeface="Calibri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218997" y="9724425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C9A84C"/>
                </a:solidFill>
                <a:latin typeface="Calibri"/>
              </a:rPr>
              <a:t>9183 1316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9768" y="10545022"/>
            <a:ext cx="6739127" cy="192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1" dirty="0">
                <a:solidFill>
                  <a:srgbClr val="64748B"/>
                </a:solidFill>
                <a:latin typeface="Calibri"/>
              </a:rPr>
              <a:t>Data sourced from URA REALIS (Jun 2025–Jun 2026). This flyer is for informational purposes only and does not constitute a formal valuation.</a:t>
            </a: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E37EB9D4-3063-33C7-BE32-E6AFFDA221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580" r="16604"/>
          <a:stretch>
            <a:fillRect/>
          </a:stretch>
        </p:blipFill>
        <p:spPr>
          <a:xfrm>
            <a:off x="-100665" y="7630706"/>
            <a:ext cx="1306670" cy="3071357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FF8B22FF-8123-85F5-B445-759DAC8BDA7B}"/>
              </a:ext>
            </a:extLst>
          </p:cNvPr>
          <p:cNvSpPr txBox="1"/>
          <p:nvPr/>
        </p:nvSpPr>
        <p:spPr>
          <a:xfrm>
            <a:off x="3815395" y="2246191"/>
            <a:ext cx="16047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i="0" dirty="0">
                <a:solidFill>
                  <a:srgbClr val="1B2A4A"/>
                </a:solidFill>
                <a:latin typeface="Calibri"/>
              </a:rPr>
              <a:t>Transactions</a:t>
            </a:r>
            <a:endParaRPr sz="2000" b="1" i="0" dirty="0">
              <a:solidFill>
                <a:srgbClr val="1B2A4A"/>
              </a:solidFill>
              <a:latin typeface="Calibri"/>
            </a:endParaRPr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82F8EE19-B110-5391-350F-CF1F5C015C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4" r="59677"/>
          <a:stretch>
            <a:fillRect/>
          </a:stretch>
        </p:blipFill>
        <p:spPr>
          <a:xfrm>
            <a:off x="6398246" y="7607808"/>
            <a:ext cx="1311510" cy="3089416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5A271584-8034-164E-1DB4-5E2F26513D07}"/>
              </a:ext>
            </a:extLst>
          </p:cNvPr>
          <p:cNvSpPr txBox="1"/>
          <p:nvPr/>
        </p:nvSpPr>
        <p:spPr>
          <a:xfrm>
            <a:off x="5241917" y="9515318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b="1" dirty="0">
                <a:solidFill>
                  <a:srgbClr val="FFFFFF"/>
                </a:solidFill>
                <a:latin typeface="Calibri"/>
              </a:rPr>
              <a:t>Tricia Low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59BCDF0-E7E4-A824-D29B-D687C5C14D8B}"/>
              </a:ext>
            </a:extLst>
          </p:cNvPr>
          <p:cNvSpPr txBox="1"/>
          <p:nvPr/>
        </p:nvSpPr>
        <p:spPr>
          <a:xfrm>
            <a:off x="5241917" y="9870377"/>
            <a:ext cx="1165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br>
              <a:rPr lang="en-US" sz="600" b="0" i="0" dirty="0">
                <a:solidFill>
                  <a:srgbClr val="B0BED4"/>
                </a:solidFill>
                <a:latin typeface="Calibri"/>
              </a:rPr>
            </a:br>
            <a:r>
              <a:rPr lang="en-US" sz="600" b="0" i="0" dirty="0">
                <a:solidFill>
                  <a:srgbClr val="B0BED4"/>
                </a:solidFill>
                <a:latin typeface="Calibri"/>
              </a:rPr>
              <a:t>R068957J</a:t>
            </a:r>
            <a:endParaRPr sz="600" b="0" i="0" dirty="0">
              <a:solidFill>
                <a:srgbClr val="B0BED4"/>
              </a:solidFill>
              <a:latin typeface="Calibri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A2B2599-6011-325E-8F69-29F4A069A0DD}"/>
              </a:ext>
            </a:extLst>
          </p:cNvPr>
          <p:cNvSpPr txBox="1"/>
          <p:nvPr/>
        </p:nvSpPr>
        <p:spPr>
          <a:xfrm>
            <a:off x="5241917" y="9724114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b="1" i="0" dirty="0">
                <a:solidFill>
                  <a:srgbClr val="C9A84C"/>
                </a:solidFill>
                <a:latin typeface="Calibri"/>
              </a:rPr>
              <a:t>9833 8871</a:t>
            </a:r>
            <a:endParaRPr sz="1600" b="1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17C82F8-E140-0F5E-A39C-7213878DDDDE}"/>
              </a:ext>
            </a:extLst>
          </p:cNvPr>
          <p:cNvSpPr txBox="1"/>
          <p:nvPr/>
        </p:nvSpPr>
        <p:spPr>
          <a:xfrm>
            <a:off x="2963221" y="9554753"/>
            <a:ext cx="1583441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rgbClr val="C9A84C"/>
                </a:solidFill>
                <a:latin typeface="Calibri"/>
              </a:rPr>
              <a:t>CONTACT US FOR A </a:t>
            </a:r>
          </a:p>
          <a:p>
            <a:pPr algn="ctr"/>
            <a:r>
              <a:rPr lang="en-US" sz="1050" b="1" i="0" u="sng" dirty="0">
                <a:solidFill>
                  <a:srgbClr val="C00000"/>
                </a:solidFill>
                <a:latin typeface="Calibri"/>
              </a:rPr>
              <a:t>FREE</a:t>
            </a:r>
            <a:r>
              <a:rPr lang="en-US" sz="1000" b="1" i="0" dirty="0">
                <a:solidFill>
                  <a:srgbClr val="C9A84C"/>
                </a:solidFill>
                <a:latin typeface="Calibri"/>
              </a:rPr>
              <a:t> INDICATIVE VALUATION AND CONSULTATION TODAY!</a:t>
            </a:r>
            <a:endParaRPr sz="1000" b="1" i="0" dirty="0">
              <a:solidFill>
                <a:srgbClr val="C9A84C"/>
              </a:solidFill>
              <a:latin typeface="Calibri"/>
            </a:endParaRP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29AB6464-DA9D-9F70-9F21-34FAA84526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1864" y="9662982"/>
            <a:ext cx="449708" cy="450613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C096E41E-6A92-87B3-4627-92A7E1CE83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 flipV="1">
            <a:off x="4921166" y="9646126"/>
            <a:ext cx="448221" cy="4491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AB938A-6974-A970-9406-EF1966822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C799B0-3AE5-5E04-0D0B-F0790A546CEE}"/>
              </a:ext>
            </a:extLst>
          </p:cNvPr>
          <p:cNvSpPr/>
          <p:nvPr/>
        </p:nvSpPr>
        <p:spPr>
          <a:xfrm>
            <a:off x="21020" y="-15923"/>
            <a:ext cx="7562088" cy="1813935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EFFDC7-4890-B0BE-E93A-46A6A076692B}"/>
              </a:ext>
            </a:extLst>
          </p:cNvPr>
          <p:cNvSpPr/>
          <p:nvPr/>
        </p:nvSpPr>
        <p:spPr>
          <a:xfrm>
            <a:off x="-10510" y="-21020"/>
            <a:ext cx="256032" cy="181393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EB1421-B0D0-4A31-A148-1EE77D551E1F}"/>
              </a:ext>
            </a:extLst>
          </p:cNvPr>
          <p:cNvSpPr txBox="1"/>
          <p:nvPr/>
        </p:nvSpPr>
        <p:spPr>
          <a:xfrm>
            <a:off x="411480" y="201168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Calibri"/>
              </a:rPr>
              <a:t>Is now the right time
to sell your landed home?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E0603E-94E0-3E09-72E2-369BFCC7C5B2}"/>
              </a:ext>
            </a:extLst>
          </p:cNvPr>
          <p:cNvSpPr txBox="1"/>
          <p:nvPr/>
        </p:nvSpPr>
        <p:spPr>
          <a:xfrm>
            <a:off x="411479" y="978988"/>
            <a:ext cx="54010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 dirty="0">
                <a:solidFill>
                  <a:srgbClr val="C9A84C"/>
                </a:solidFill>
                <a:latin typeface="Calibri"/>
              </a:rPr>
              <a:t>Thomson Garden Estate has seen 21 transactions in the last 12 </a:t>
            </a:r>
            <a:r>
              <a:rPr lang="en-US" sz="1050" b="0" i="1" dirty="0">
                <a:solidFill>
                  <a:srgbClr val="C9A84C"/>
                </a:solidFill>
                <a:latin typeface="Calibri"/>
              </a:rPr>
              <a:t>months,</a:t>
            </a:r>
            <a:r>
              <a:rPr sz="1050" b="0" i="1" dirty="0">
                <a:solidFill>
                  <a:srgbClr val="C9A84C"/>
                </a:solidFill>
                <a:latin typeface="Calibri"/>
              </a:rPr>
              <a:t>  and </a:t>
            </a:r>
            <a:r>
              <a:rPr lang="en-US" sz="1050" b="0" i="1" dirty="0">
                <a:solidFill>
                  <a:srgbClr val="C9A84C"/>
                </a:solidFill>
                <a:latin typeface="Calibri"/>
              </a:rPr>
              <a:t>we have </a:t>
            </a:r>
            <a:r>
              <a:rPr sz="1050" b="0" i="1" dirty="0">
                <a:solidFill>
                  <a:srgbClr val="C9A84C"/>
                </a:solidFill>
                <a:latin typeface="Calibri"/>
              </a:rPr>
              <a:t>serious buyers are actively looking here.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5D9873-B39C-CD22-9F31-83D982CBF382}"/>
              </a:ext>
            </a:extLst>
          </p:cNvPr>
          <p:cNvSpPr/>
          <p:nvPr/>
        </p:nvSpPr>
        <p:spPr>
          <a:xfrm>
            <a:off x="518985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F125B7-D151-DD18-5C76-D5AD00DAAF19}"/>
              </a:ext>
            </a:extLst>
          </p:cNvPr>
          <p:cNvSpPr txBox="1"/>
          <p:nvPr/>
        </p:nvSpPr>
        <p:spPr>
          <a:xfrm>
            <a:off x="573849" y="2143776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+6.7%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775C51-3353-2347-AB2E-CE71AD59868D}"/>
              </a:ext>
            </a:extLst>
          </p:cNvPr>
          <p:cNvSpPr txBox="1"/>
          <p:nvPr/>
        </p:nvSpPr>
        <p:spPr>
          <a:xfrm>
            <a:off x="573849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landed price growth
year-on-year (2025)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B47EC5-689A-4347-DC2D-545335D70594}"/>
              </a:ext>
            </a:extLst>
          </p:cNvPr>
          <p:cNvSpPr/>
          <p:nvPr/>
        </p:nvSpPr>
        <p:spPr>
          <a:xfrm>
            <a:off x="2180907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E5059C-B861-CF6C-5F90-C5F403929A7E}"/>
              </a:ext>
            </a:extLst>
          </p:cNvPr>
          <p:cNvSpPr txBox="1"/>
          <p:nvPr/>
        </p:nvSpPr>
        <p:spPr>
          <a:xfrm>
            <a:off x="2235771" y="2149913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+73%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996E0A-2138-336A-9D2F-9FE49835D230}"/>
              </a:ext>
            </a:extLst>
          </p:cNvPr>
          <p:cNvSpPr txBox="1"/>
          <p:nvPr/>
        </p:nvSpPr>
        <p:spPr>
          <a:xfrm>
            <a:off x="2235771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URA landed price index
Q1 2019 → Q1 2026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ABC103-46E1-9039-2294-A800F5A14F54}"/>
              </a:ext>
            </a:extLst>
          </p:cNvPr>
          <p:cNvSpPr/>
          <p:nvPr/>
        </p:nvSpPr>
        <p:spPr>
          <a:xfrm>
            <a:off x="3842829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798BC6-04BF-9C76-5C71-2DD029D39427}"/>
              </a:ext>
            </a:extLst>
          </p:cNvPr>
          <p:cNvSpPr txBox="1"/>
          <p:nvPr/>
        </p:nvSpPr>
        <p:spPr>
          <a:xfrm>
            <a:off x="3787963" y="2026039"/>
            <a:ext cx="16047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2</a:t>
            </a:r>
            <a:r>
              <a:rPr lang="en-US" sz="2000" b="1" i="0" dirty="0">
                <a:solidFill>
                  <a:srgbClr val="1B2A4A"/>
                </a:solidFill>
                <a:latin typeface="Calibri"/>
              </a:rPr>
              <a:t>1</a:t>
            </a:r>
            <a:endParaRPr sz="2000" b="1" i="0" dirty="0">
              <a:solidFill>
                <a:srgbClr val="1B2A4A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071643-9398-4290-E04A-41298952FA7D}"/>
              </a:ext>
            </a:extLst>
          </p:cNvPr>
          <p:cNvSpPr txBox="1"/>
          <p:nvPr/>
        </p:nvSpPr>
        <p:spPr>
          <a:xfrm>
            <a:off x="3897692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Thomson Garden Estate
last 12 months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BF57DA-3278-1905-6E9B-F3E20150E58E}"/>
              </a:ext>
            </a:extLst>
          </p:cNvPr>
          <p:cNvSpPr/>
          <p:nvPr/>
        </p:nvSpPr>
        <p:spPr>
          <a:xfrm>
            <a:off x="5504751" y="2067494"/>
            <a:ext cx="1552193" cy="1024128"/>
          </a:xfrm>
          <a:prstGeom prst="rect">
            <a:avLst/>
          </a:prstGeom>
          <a:solidFill>
            <a:srgbClr val="FDF6E3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55CD5D-3738-14E0-2BBC-1D5E9EBB98D0}"/>
              </a:ext>
            </a:extLst>
          </p:cNvPr>
          <p:cNvSpPr txBox="1"/>
          <p:nvPr/>
        </p:nvSpPr>
        <p:spPr>
          <a:xfrm>
            <a:off x="5559614" y="2149913"/>
            <a:ext cx="144246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1B2A4A"/>
                </a:solidFill>
                <a:latin typeface="Calibri"/>
              </a:rPr>
              <a:t>+46%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3E90CE-ED7D-A0EC-73C5-27A8F5AABF10}"/>
              </a:ext>
            </a:extLst>
          </p:cNvPr>
          <p:cNvSpPr txBox="1"/>
          <p:nvPr/>
        </p:nvSpPr>
        <p:spPr>
          <a:xfrm>
            <a:off x="5559614" y="2598092"/>
            <a:ext cx="144246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ultra-wealthy buyer count
forecast by 2031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2A710B-6EF4-B807-B04E-94EF6363AC47}"/>
              </a:ext>
            </a:extLst>
          </p:cNvPr>
          <p:cNvSpPr txBox="1"/>
          <p:nvPr/>
        </p:nvSpPr>
        <p:spPr>
          <a:xfrm>
            <a:off x="457200" y="331320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C9A84C"/>
                </a:solidFill>
                <a:latin typeface="Calibri"/>
              </a:rPr>
              <a:t>WHY SELLERS ARE MOVING NOW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F5C60F-71D0-F538-DF9F-4AF7B74FBC04}"/>
              </a:ext>
            </a:extLst>
          </p:cNvPr>
          <p:cNvSpPr/>
          <p:nvPr/>
        </p:nvSpPr>
        <p:spPr>
          <a:xfrm>
            <a:off x="457200" y="3602155"/>
            <a:ext cx="4389120" cy="2395728"/>
          </a:xfrm>
          <a:prstGeom prst="rect">
            <a:avLst/>
          </a:prstGeom>
          <a:solidFill>
            <a:srgbClr val="F4F6FA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383E093-A32B-8E2A-30CB-D6E68C4C33F2}"/>
              </a:ext>
            </a:extLst>
          </p:cNvPr>
          <p:cNvSpPr/>
          <p:nvPr/>
        </p:nvSpPr>
        <p:spPr>
          <a:xfrm>
            <a:off x="566928" y="3772134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F0FB14-A80E-D5E9-85E7-078F96EAC163}"/>
              </a:ext>
            </a:extLst>
          </p:cNvPr>
          <p:cNvSpPr txBox="1"/>
          <p:nvPr/>
        </p:nvSpPr>
        <p:spPr>
          <a:xfrm>
            <a:off x="566928" y="377213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BAC320-1925-425C-F458-63606F411294}"/>
              </a:ext>
            </a:extLst>
          </p:cNvPr>
          <p:cNvSpPr txBox="1"/>
          <p:nvPr/>
        </p:nvSpPr>
        <p:spPr>
          <a:xfrm>
            <a:off x="896112" y="37152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Prices up 6.7% YoY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38C430-2D64-535B-1649-D0A1B429115E}"/>
              </a:ext>
            </a:extLst>
          </p:cNvPr>
          <p:cNvSpPr txBox="1"/>
          <p:nvPr/>
        </p:nvSpPr>
        <p:spPr>
          <a:xfrm>
            <a:off x="896112" y="3841214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Strong market recovery — Q2/Q3 is peak transaction season.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CB7BF31-3D19-A432-86EE-3261916876F0}"/>
              </a:ext>
            </a:extLst>
          </p:cNvPr>
          <p:cNvSpPr/>
          <p:nvPr/>
        </p:nvSpPr>
        <p:spPr>
          <a:xfrm>
            <a:off x="566928" y="4275845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0F21CF-71AF-599C-548C-054C80EA24EB}"/>
              </a:ext>
            </a:extLst>
          </p:cNvPr>
          <p:cNvSpPr txBox="1"/>
          <p:nvPr/>
        </p:nvSpPr>
        <p:spPr>
          <a:xfrm>
            <a:off x="566928" y="4275845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07030F-E3FC-1D66-7858-D8C9C9FD9E1B}"/>
              </a:ext>
            </a:extLst>
          </p:cNvPr>
          <p:cNvSpPr txBox="1"/>
          <p:nvPr/>
        </p:nvSpPr>
        <p:spPr>
          <a:xfrm>
            <a:off x="896112" y="4215188"/>
            <a:ext cx="1868424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Declining interest rates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507DDB-43E1-E33E-B8F4-28D3EC5C6023}"/>
              </a:ext>
            </a:extLst>
          </p:cNvPr>
          <p:cNvSpPr txBox="1"/>
          <p:nvPr/>
        </p:nvSpPr>
        <p:spPr>
          <a:xfrm>
            <a:off x="896112" y="4341116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SORA falling → buyer affordability improving → larger qualified buyer pool.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65FA9F8-7DDE-F62D-E190-FC8CE57ADCF7}"/>
              </a:ext>
            </a:extLst>
          </p:cNvPr>
          <p:cNvSpPr/>
          <p:nvPr/>
        </p:nvSpPr>
        <p:spPr>
          <a:xfrm>
            <a:off x="566928" y="4838474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E79AA1D-5820-966B-1A5F-28E9F1570BE4}"/>
              </a:ext>
            </a:extLst>
          </p:cNvPr>
          <p:cNvSpPr txBox="1"/>
          <p:nvPr/>
        </p:nvSpPr>
        <p:spPr>
          <a:xfrm>
            <a:off x="566928" y="483847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5A8718-4814-BA6B-F5FA-C74865CC8AB7}"/>
              </a:ext>
            </a:extLst>
          </p:cNvPr>
          <p:cNvSpPr txBox="1"/>
          <p:nvPr/>
        </p:nvSpPr>
        <p:spPr>
          <a:xfrm>
            <a:off x="896112" y="4788629"/>
            <a:ext cx="2155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Wealthiest buyer base ever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EF0F8B-80B5-2DF1-51BC-6961F5713B99}"/>
              </a:ext>
            </a:extLst>
          </p:cNvPr>
          <p:cNvSpPr txBox="1"/>
          <p:nvPr/>
        </p:nvSpPr>
        <p:spPr>
          <a:xfrm>
            <a:off x="896112" y="4919496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Singapore UHNWI count up 55% in 5 years. Forecast: +46% more by 2031.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FA917ED-B083-56BF-1D88-9EC99AFD1FDF}"/>
              </a:ext>
            </a:extLst>
          </p:cNvPr>
          <p:cNvSpPr/>
          <p:nvPr/>
        </p:nvSpPr>
        <p:spPr>
          <a:xfrm>
            <a:off x="566928" y="5406793"/>
            <a:ext cx="237744" cy="23774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025E7B-5391-B163-84BF-3C939E4345E8}"/>
              </a:ext>
            </a:extLst>
          </p:cNvPr>
          <p:cNvSpPr txBox="1"/>
          <p:nvPr/>
        </p:nvSpPr>
        <p:spPr>
          <a:xfrm>
            <a:off x="566928" y="5406793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DDD36E-EAAC-EC4D-6271-0F3A452F6073}"/>
              </a:ext>
            </a:extLst>
          </p:cNvPr>
          <p:cNvSpPr txBox="1"/>
          <p:nvPr/>
        </p:nvSpPr>
        <p:spPr>
          <a:xfrm>
            <a:off x="896112" y="535390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1B2A4A"/>
                </a:solidFill>
                <a:latin typeface="Calibri"/>
              </a:rPr>
              <a:t>Supply stays scarce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17AF8F9-1D47-18D3-762C-11E21040F16D}"/>
              </a:ext>
            </a:extLst>
          </p:cNvPr>
          <p:cNvSpPr txBox="1"/>
          <p:nvPr/>
        </p:nvSpPr>
        <p:spPr>
          <a:xfrm>
            <a:off x="896112" y="5486467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64748B"/>
                </a:solidFill>
                <a:latin typeface="Calibri"/>
              </a:rPr>
              <a:t>Landed stock grew only 12% in 25 years vs 228% for non-landed condos.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1E47FA-6B61-47C8-F22B-7426B42EDB1F}"/>
              </a:ext>
            </a:extLst>
          </p:cNvPr>
          <p:cNvSpPr txBox="1"/>
          <p:nvPr/>
        </p:nvSpPr>
        <p:spPr>
          <a:xfrm>
            <a:off x="5029200" y="3327835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THOMSON GARDEN ESTATE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022AAD-6D94-E5AE-1972-AA810DA1C64B}"/>
              </a:ext>
            </a:extLst>
          </p:cNvPr>
          <p:cNvSpPr txBox="1"/>
          <p:nvPr/>
        </p:nvSpPr>
        <p:spPr>
          <a:xfrm>
            <a:off x="5029200" y="3442135"/>
            <a:ext cx="23591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 dirty="0">
                <a:solidFill>
                  <a:srgbClr val="64748B"/>
                </a:solidFill>
                <a:latin typeface="Calibri"/>
              </a:rPr>
              <a:t>Jun 2025 – Jun 2026 · Freehold D20</a:t>
            </a:r>
            <a:endParaRPr lang="en-US" sz="700" b="0" i="1" dirty="0">
              <a:solidFill>
                <a:srgbClr val="64748B"/>
              </a:solidFill>
              <a:latin typeface="Calibri"/>
            </a:endParaRPr>
          </a:p>
          <a:p>
            <a:pPr algn="l"/>
            <a:endParaRPr sz="700" b="0" i="1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D125AE5-3D5C-D538-1C75-17F3C5A01F12}"/>
              </a:ext>
            </a:extLst>
          </p:cNvPr>
          <p:cNvSpPr/>
          <p:nvPr/>
        </p:nvSpPr>
        <p:spPr>
          <a:xfrm>
            <a:off x="5029200" y="3602155"/>
            <a:ext cx="2359152" cy="2395728"/>
          </a:xfrm>
          <a:prstGeom prst="rect">
            <a:avLst/>
          </a:prstGeom>
          <a:solidFill>
            <a:srgbClr val="F4F6FA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6C1900C-7FE5-5D74-5174-C63FF4341483}"/>
              </a:ext>
            </a:extLst>
          </p:cNvPr>
          <p:cNvSpPr/>
          <p:nvPr/>
        </p:nvSpPr>
        <p:spPr>
          <a:xfrm>
            <a:off x="5120640" y="369359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F9D49F-847B-ECCC-13EA-506003A74FE4}"/>
              </a:ext>
            </a:extLst>
          </p:cNvPr>
          <p:cNvSpPr txBox="1"/>
          <p:nvPr/>
        </p:nvSpPr>
        <p:spPr>
          <a:xfrm>
            <a:off x="5193791" y="3739316"/>
            <a:ext cx="174650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1B2A4A"/>
                </a:solidFill>
                <a:latin typeface="Calibri"/>
              </a:rPr>
              <a:t>Terrace (</a:t>
            </a:r>
            <a:r>
              <a:rPr lang="en-US" sz="900" b="0" i="0" dirty="0">
                <a:solidFill>
                  <a:srgbClr val="1B2A4A"/>
                </a:solidFill>
                <a:latin typeface="Calibri"/>
              </a:rPr>
              <a:t>small &amp; </a:t>
            </a:r>
            <a:r>
              <a:rPr sz="900" b="0" i="0" dirty="0">
                <a:solidFill>
                  <a:srgbClr val="1B2A4A"/>
                </a:solidFill>
                <a:latin typeface="Calibri"/>
              </a:rPr>
              <a:t>typical)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8F812C-BE32-D0BF-5BD5-BFBE5090DAA3}"/>
              </a:ext>
            </a:extLst>
          </p:cNvPr>
          <p:cNvSpPr txBox="1"/>
          <p:nvPr/>
        </p:nvSpPr>
        <p:spPr>
          <a:xfrm>
            <a:off x="5193792" y="386759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$2.65M–$4.35M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A753F1-CFC3-E35F-97AA-273A1BF1C5EC}"/>
              </a:ext>
            </a:extLst>
          </p:cNvPr>
          <p:cNvSpPr/>
          <p:nvPr/>
        </p:nvSpPr>
        <p:spPr>
          <a:xfrm>
            <a:off x="5120640" y="424223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C581C2E-A9A5-867D-5B76-2FCDE28D3FF7}"/>
              </a:ext>
            </a:extLst>
          </p:cNvPr>
          <p:cNvSpPr txBox="1"/>
          <p:nvPr/>
        </p:nvSpPr>
        <p:spPr>
          <a:xfrm>
            <a:off x="5193792" y="4287955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Terrace (large)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7938CA-63FE-B093-BBA7-300E5578FC93}"/>
              </a:ext>
            </a:extLst>
          </p:cNvPr>
          <p:cNvSpPr txBox="1"/>
          <p:nvPr/>
        </p:nvSpPr>
        <p:spPr>
          <a:xfrm>
            <a:off x="5193792" y="4416237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$4.35M–$6.25M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E26E482-D34A-36D7-C02F-857FDE5A79BE}"/>
              </a:ext>
            </a:extLst>
          </p:cNvPr>
          <p:cNvSpPr/>
          <p:nvPr/>
        </p:nvSpPr>
        <p:spPr>
          <a:xfrm>
            <a:off x="5120640" y="479087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CB8882-7D28-F3F2-F48B-5A571063E25E}"/>
              </a:ext>
            </a:extLst>
          </p:cNvPr>
          <p:cNvSpPr txBox="1"/>
          <p:nvPr/>
        </p:nvSpPr>
        <p:spPr>
          <a:xfrm>
            <a:off x="5193792" y="48365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Semi-D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05AE41-16DB-5D11-3552-F82A71360D46}"/>
              </a:ext>
            </a:extLst>
          </p:cNvPr>
          <p:cNvSpPr txBox="1"/>
          <p:nvPr/>
        </p:nvSpPr>
        <p:spPr>
          <a:xfrm>
            <a:off x="5193792" y="495825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$5.70M–$7.20M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E49AD4-FAEE-0F54-691C-14E5C8DA1009}"/>
              </a:ext>
            </a:extLst>
          </p:cNvPr>
          <p:cNvSpPr/>
          <p:nvPr/>
        </p:nvSpPr>
        <p:spPr>
          <a:xfrm>
            <a:off x="5120640" y="5339516"/>
            <a:ext cx="21579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14C115-524B-8B58-1886-49BAE5AD6F05}"/>
              </a:ext>
            </a:extLst>
          </p:cNvPr>
          <p:cNvSpPr txBox="1"/>
          <p:nvPr/>
        </p:nvSpPr>
        <p:spPr>
          <a:xfrm>
            <a:off x="5193792" y="538523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A4A"/>
                </a:solidFill>
                <a:latin typeface="Calibri"/>
              </a:rPr>
              <a:t>Avg Land PSF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B7DF03-EA81-B4AD-169A-65157A5F2F50}"/>
              </a:ext>
            </a:extLst>
          </p:cNvPr>
          <p:cNvSpPr txBox="1"/>
          <p:nvPr/>
        </p:nvSpPr>
        <p:spPr>
          <a:xfrm>
            <a:off x="5193792" y="551351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9A84C"/>
                </a:solidFill>
                <a:latin typeface="Calibri"/>
              </a:rPr>
              <a:t>$3,151 </a:t>
            </a:r>
            <a:r>
              <a:rPr sz="1200" b="1" i="0" dirty="0" err="1">
                <a:solidFill>
                  <a:srgbClr val="C9A84C"/>
                </a:solidFill>
                <a:latin typeface="Calibri"/>
              </a:rPr>
              <a:t>psf</a:t>
            </a:r>
            <a:endParaRPr sz="1200" b="1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E8ECA3D-479D-2343-2B61-7C991CF8783A}"/>
              </a:ext>
            </a:extLst>
          </p:cNvPr>
          <p:cNvSpPr txBox="1"/>
          <p:nvPr/>
        </p:nvSpPr>
        <p:spPr>
          <a:xfrm>
            <a:off x="5029200" y="6254496"/>
            <a:ext cx="23591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64748B"/>
                </a:solidFill>
                <a:latin typeface="Calibri"/>
              </a:rPr>
              <a:t>Source: URA REALIS (Jun 2025–Jun 2026)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31F1E9B-191A-0541-5129-FEFE7C4BA42E}"/>
              </a:ext>
            </a:extLst>
          </p:cNvPr>
          <p:cNvSpPr/>
          <p:nvPr/>
        </p:nvSpPr>
        <p:spPr>
          <a:xfrm>
            <a:off x="21020" y="6236208"/>
            <a:ext cx="7562088" cy="104241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C59D7D0-3A5B-CA36-BAE4-309021F98BF9}"/>
              </a:ext>
            </a:extLst>
          </p:cNvPr>
          <p:cNvSpPr/>
          <p:nvPr/>
        </p:nvSpPr>
        <p:spPr>
          <a:xfrm>
            <a:off x="-10510" y="6236208"/>
            <a:ext cx="256032" cy="10424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2AD8F6-8338-9742-7854-65622CB36049}"/>
              </a:ext>
            </a:extLst>
          </p:cNvPr>
          <p:cNvSpPr txBox="1"/>
          <p:nvPr/>
        </p:nvSpPr>
        <p:spPr>
          <a:xfrm>
            <a:off x="411480" y="63093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 dirty="0">
                <a:solidFill>
                  <a:srgbClr val="C9A84C"/>
                </a:solidFill>
                <a:latin typeface="Calibri"/>
              </a:rPr>
              <a:t>WHAT YOUR HOME COULD BE WORTH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843702-A56B-3783-FD7B-59C077AB7FF2}"/>
              </a:ext>
            </a:extLst>
          </p:cNvPr>
          <p:cNvSpPr txBox="1"/>
          <p:nvPr/>
        </p:nvSpPr>
        <p:spPr>
          <a:xfrm>
            <a:off x="411480" y="6583680"/>
            <a:ext cx="68580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Based on 21 transactions in Thomson Garden Estate over the last 12 months, freehold terraces have transacted between $2.65M–$6.25M and semi-detached homes at $5.70M–$7.20M. Average land PSF: $3,151. Call me for a complimentary, no-obligation valuation of your specific home.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A2AE029-764C-9EBE-E889-49D3E4962693}"/>
              </a:ext>
            </a:extLst>
          </p:cNvPr>
          <p:cNvSpPr txBox="1"/>
          <p:nvPr/>
        </p:nvSpPr>
        <p:spPr>
          <a:xfrm>
            <a:off x="946481" y="7398688"/>
            <a:ext cx="2460266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 dirty="0">
                <a:solidFill>
                  <a:srgbClr val="C9A84C"/>
                </a:solidFill>
                <a:latin typeface="Calibri"/>
              </a:rPr>
              <a:t>HOW IT WORKS — THREE SIMPLE STEPS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66F884D-2734-B9C2-3F93-6C525DA9168B}"/>
              </a:ext>
            </a:extLst>
          </p:cNvPr>
          <p:cNvSpPr/>
          <p:nvPr/>
        </p:nvSpPr>
        <p:spPr>
          <a:xfrm>
            <a:off x="910472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CCAFFC5-D82E-E128-7BB8-2F8F9D90E160}"/>
              </a:ext>
            </a:extLst>
          </p:cNvPr>
          <p:cNvSpPr/>
          <p:nvPr/>
        </p:nvSpPr>
        <p:spPr>
          <a:xfrm>
            <a:off x="1609237" y="7755304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395684-A21B-F804-4708-D8C4B214188B}"/>
              </a:ext>
            </a:extLst>
          </p:cNvPr>
          <p:cNvSpPr txBox="1"/>
          <p:nvPr/>
        </p:nvSpPr>
        <p:spPr>
          <a:xfrm>
            <a:off x="1609237" y="77553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C9A84C"/>
                </a:solidFill>
                <a:latin typeface="Calibri"/>
              </a:rPr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335D8D-3384-2637-C9CD-ABE5DDD2A653}"/>
              </a:ext>
            </a:extLst>
          </p:cNvPr>
          <p:cNvSpPr txBox="1"/>
          <p:nvPr/>
        </p:nvSpPr>
        <p:spPr>
          <a:xfrm>
            <a:off x="909205" y="8185072"/>
            <a:ext cx="175559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B2A4A"/>
                </a:solidFill>
                <a:latin typeface="Calibri"/>
              </a:rPr>
              <a:t>Free property assessment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2EFCE5-139D-CCD4-BF1C-5A36801E9761}"/>
              </a:ext>
            </a:extLst>
          </p:cNvPr>
          <p:cNvSpPr txBox="1"/>
          <p:nvPr/>
        </p:nvSpPr>
        <p:spPr>
          <a:xfrm>
            <a:off x="909205" y="8459392"/>
            <a:ext cx="1755593" cy="484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5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 visit, assess condition, pull the latest comps and give you an </a:t>
            </a:r>
            <a:r>
              <a:rPr lang="en-US" sz="850" dirty="0">
                <a:solidFill>
                  <a:srgbClr val="64748B"/>
                </a:solidFill>
                <a:latin typeface="Calibri"/>
              </a:rPr>
              <a:t>indicative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valuation.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F2C8818-ADE9-9D8A-E2FA-9F6880A8D9FC}"/>
              </a:ext>
            </a:extLst>
          </p:cNvPr>
          <p:cNvSpPr/>
          <p:nvPr/>
        </p:nvSpPr>
        <p:spPr>
          <a:xfrm>
            <a:off x="2893399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5C07879-4DB7-3CE8-D33D-38EA3982A30F}"/>
              </a:ext>
            </a:extLst>
          </p:cNvPr>
          <p:cNvSpPr/>
          <p:nvPr/>
        </p:nvSpPr>
        <p:spPr>
          <a:xfrm>
            <a:off x="3572062" y="7760785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E42EC4-8A0B-9EFB-2CDD-3553F7C870D9}"/>
              </a:ext>
            </a:extLst>
          </p:cNvPr>
          <p:cNvSpPr txBox="1"/>
          <p:nvPr/>
        </p:nvSpPr>
        <p:spPr>
          <a:xfrm>
            <a:off x="3572062" y="776078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C9A84C"/>
                </a:solidFill>
                <a:latin typeface="Calibri"/>
              </a:rPr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A0DEC23-2BDC-F4E7-1F6E-98EE643EDAD7}"/>
              </a:ext>
            </a:extLst>
          </p:cNvPr>
          <p:cNvSpPr txBox="1"/>
          <p:nvPr/>
        </p:nvSpPr>
        <p:spPr>
          <a:xfrm>
            <a:off x="2893398" y="8185072"/>
            <a:ext cx="1755593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 dirty="0">
                <a:solidFill>
                  <a:srgbClr val="1B2A4A"/>
                </a:solidFill>
                <a:latin typeface="Calibri"/>
              </a:rPr>
              <a:t>Marketing strategy meeting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3FB0CF6-E2FC-0CFF-6710-C580F1DA9E9E}"/>
              </a:ext>
            </a:extLst>
          </p:cNvPr>
          <p:cNvSpPr txBox="1"/>
          <p:nvPr/>
        </p:nvSpPr>
        <p:spPr>
          <a:xfrm>
            <a:off x="2893399" y="8459392"/>
            <a:ext cx="175559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50" b="0" i="0" dirty="0">
                <a:solidFill>
                  <a:srgbClr val="64748B"/>
                </a:solidFill>
                <a:latin typeface="Calibri"/>
              </a:rPr>
              <a:t>Discuss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on the right </a:t>
            </a:r>
            <a:r>
              <a:rPr lang="en-US" sz="850" b="0" i="0" dirty="0">
                <a:solidFill>
                  <a:srgbClr val="64748B"/>
                </a:solidFill>
                <a:latin typeface="Calibri"/>
              </a:rPr>
              <a:t>strategy 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and approach. </a:t>
            </a:r>
            <a:r>
              <a:rPr lang="en-US" sz="85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'll show you exactly who the buyers are and how </a:t>
            </a:r>
            <a:r>
              <a:rPr lang="en-US" sz="850" b="0" i="0" dirty="0">
                <a:solidFill>
                  <a:srgbClr val="64748B"/>
                </a:solidFill>
                <a:latin typeface="Calibri"/>
              </a:rPr>
              <a:t>We</a:t>
            </a:r>
            <a:r>
              <a:rPr sz="850" b="0" i="0" dirty="0">
                <a:solidFill>
                  <a:srgbClr val="64748B"/>
                </a:solidFill>
                <a:latin typeface="Calibri"/>
              </a:rPr>
              <a:t>'ll reach them.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E2BDCC-8A34-D173-777F-CF1E97046561}"/>
              </a:ext>
            </a:extLst>
          </p:cNvPr>
          <p:cNvSpPr/>
          <p:nvPr/>
        </p:nvSpPr>
        <p:spPr>
          <a:xfrm>
            <a:off x="4876326" y="7691296"/>
            <a:ext cx="1755592" cy="1417320"/>
          </a:xfrm>
          <a:prstGeom prst="rect">
            <a:avLst/>
          </a:prstGeom>
          <a:solidFill>
            <a:srgbClr val="FDF6E3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3F60CC15-1DD4-F71B-75F6-0FCF895A26B3}"/>
              </a:ext>
            </a:extLst>
          </p:cNvPr>
          <p:cNvSpPr/>
          <p:nvPr/>
        </p:nvSpPr>
        <p:spPr>
          <a:xfrm>
            <a:off x="5589107" y="7760785"/>
            <a:ext cx="365760" cy="36576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84712BD-BFBC-F4C7-B0FE-39B5AE5C3DF3}"/>
              </a:ext>
            </a:extLst>
          </p:cNvPr>
          <p:cNvSpPr txBox="1"/>
          <p:nvPr/>
        </p:nvSpPr>
        <p:spPr>
          <a:xfrm>
            <a:off x="5589107" y="776078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A48EECD-B8F3-081F-B53C-7F4292E0E3D1}"/>
              </a:ext>
            </a:extLst>
          </p:cNvPr>
          <p:cNvSpPr txBox="1"/>
          <p:nvPr/>
        </p:nvSpPr>
        <p:spPr>
          <a:xfrm>
            <a:off x="4876327" y="8185072"/>
            <a:ext cx="175559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50" b="1" dirty="0">
                <a:solidFill>
                  <a:srgbClr val="1B2A4A"/>
                </a:solidFill>
                <a:latin typeface="Calibri"/>
              </a:rPr>
              <a:t>L</a:t>
            </a:r>
            <a:r>
              <a:rPr sz="950" b="1" i="0" dirty="0">
                <a:solidFill>
                  <a:srgbClr val="1B2A4A"/>
                </a:solidFill>
                <a:latin typeface="Calibri"/>
              </a:rPr>
              <a:t>isting &amp; launch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43D6A8-B9B0-198A-F1A7-99751DE60F8C}"/>
              </a:ext>
            </a:extLst>
          </p:cNvPr>
          <p:cNvSpPr txBox="1"/>
          <p:nvPr/>
        </p:nvSpPr>
        <p:spPr>
          <a:xfrm>
            <a:off x="4876325" y="8459392"/>
            <a:ext cx="175559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>
                <a:solidFill>
                  <a:srgbClr val="64748B"/>
                </a:solidFill>
                <a:latin typeface="Calibri"/>
              </a:rPr>
              <a:t>Professional photography within 5 days. Listing live within 7 days. Active buyer outreach starts immediately.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5988E15-2D18-6FF5-0DEB-5968391339E3}"/>
              </a:ext>
            </a:extLst>
          </p:cNvPr>
          <p:cNvSpPr/>
          <p:nvPr/>
        </p:nvSpPr>
        <p:spPr>
          <a:xfrm>
            <a:off x="9430" y="9423948"/>
            <a:ext cx="7562088" cy="987552"/>
          </a:xfrm>
          <a:prstGeom prst="rect">
            <a:avLst/>
          </a:prstGeom>
          <a:solidFill>
            <a:srgbClr val="16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C374066-1B1E-BDEC-FD88-40B3EE153485}"/>
              </a:ext>
            </a:extLst>
          </p:cNvPr>
          <p:cNvSpPr/>
          <p:nvPr/>
        </p:nvSpPr>
        <p:spPr>
          <a:xfrm>
            <a:off x="-7144" y="9442236"/>
            <a:ext cx="256032" cy="9875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5230645-4783-7592-AA4C-386CB08A0845}"/>
              </a:ext>
            </a:extLst>
          </p:cNvPr>
          <p:cNvSpPr txBox="1"/>
          <p:nvPr/>
        </p:nvSpPr>
        <p:spPr>
          <a:xfrm>
            <a:off x="1218997" y="9515629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Rio Pang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6C44229-2BC3-D76E-52D7-9C637CD195F0}"/>
              </a:ext>
            </a:extLst>
          </p:cNvPr>
          <p:cNvSpPr txBox="1"/>
          <p:nvPr/>
        </p:nvSpPr>
        <p:spPr>
          <a:xfrm>
            <a:off x="1218997" y="9870688"/>
            <a:ext cx="1165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br>
              <a:rPr lang="en-US" sz="600" b="0" i="0" dirty="0">
                <a:solidFill>
                  <a:srgbClr val="B0BED4"/>
                </a:solidFill>
                <a:latin typeface="Calibri"/>
              </a:rPr>
            </a:br>
            <a:r>
              <a:rPr sz="600" b="0" i="0" dirty="0">
                <a:solidFill>
                  <a:srgbClr val="B0BED4"/>
                </a:solidFill>
                <a:latin typeface="Calibri"/>
              </a:rPr>
              <a:t>R070214</a:t>
            </a:r>
            <a:r>
              <a:rPr lang="en-US" sz="600" b="0" i="0" dirty="0">
                <a:solidFill>
                  <a:srgbClr val="B0BED4"/>
                </a:solidFill>
                <a:latin typeface="Calibri"/>
              </a:rPr>
              <a:t>B</a:t>
            </a:r>
            <a:endParaRPr sz="600" b="0" i="0" dirty="0">
              <a:solidFill>
                <a:srgbClr val="B0BED4"/>
              </a:solidFill>
              <a:latin typeface="Calibri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B2802D4-71D2-0FC5-776D-6B9B34CD1307}"/>
              </a:ext>
            </a:extLst>
          </p:cNvPr>
          <p:cNvSpPr txBox="1"/>
          <p:nvPr/>
        </p:nvSpPr>
        <p:spPr>
          <a:xfrm>
            <a:off x="1218997" y="9724425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C9A84C"/>
                </a:solidFill>
                <a:latin typeface="Calibri"/>
              </a:rPr>
              <a:t>9183 1316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D360FDF-AC52-0C81-C3BD-8AE3309255E2}"/>
              </a:ext>
            </a:extLst>
          </p:cNvPr>
          <p:cNvSpPr txBox="1"/>
          <p:nvPr/>
        </p:nvSpPr>
        <p:spPr>
          <a:xfrm>
            <a:off x="429768" y="10545022"/>
            <a:ext cx="6739127" cy="192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1" dirty="0">
                <a:solidFill>
                  <a:srgbClr val="64748B"/>
                </a:solidFill>
                <a:latin typeface="Calibri"/>
              </a:rPr>
              <a:t>Data sourced from URA REALIS (Jun 2025–Jun 2026). This flyer is for informational purposes only and does not constitute a formal valuation.</a:t>
            </a: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6C12BEDB-07B4-C02E-56F7-318E30F1FF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580" r="16604"/>
          <a:stretch>
            <a:fillRect/>
          </a:stretch>
        </p:blipFill>
        <p:spPr>
          <a:xfrm>
            <a:off x="-100665" y="7630706"/>
            <a:ext cx="1306670" cy="3071357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DF656F0F-6086-19FB-3BB0-75AA430BF309}"/>
              </a:ext>
            </a:extLst>
          </p:cNvPr>
          <p:cNvSpPr txBox="1"/>
          <p:nvPr/>
        </p:nvSpPr>
        <p:spPr>
          <a:xfrm>
            <a:off x="3815395" y="2246191"/>
            <a:ext cx="16047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i="0" dirty="0">
                <a:solidFill>
                  <a:srgbClr val="1B2A4A"/>
                </a:solidFill>
                <a:latin typeface="Calibri"/>
              </a:rPr>
              <a:t>Transactions</a:t>
            </a:r>
            <a:endParaRPr sz="2000" b="1" i="0" dirty="0">
              <a:solidFill>
                <a:srgbClr val="1B2A4A"/>
              </a:solidFill>
              <a:latin typeface="Calibri"/>
            </a:endParaRPr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2CD69925-67D4-E92B-40B5-2D8260CDC9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444" r="59677"/>
          <a:stretch>
            <a:fillRect/>
          </a:stretch>
        </p:blipFill>
        <p:spPr>
          <a:xfrm>
            <a:off x="6398246" y="7607808"/>
            <a:ext cx="1311510" cy="3089416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E5D88D5E-32F6-54F0-EF01-B13F2E3520E7}"/>
              </a:ext>
            </a:extLst>
          </p:cNvPr>
          <p:cNvSpPr txBox="1"/>
          <p:nvPr/>
        </p:nvSpPr>
        <p:spPr>
          <a:xfrm>
            <a:off x="5241917" y="9515318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b="1" dirty="0">
                <a:solidFill>
                  <a:srgbClr val="FFFFFF"/>
                </a:solidFill>
                <a:latin typeface="Calibri"/>
              </a:rPr>
              <a:t>Tricia Low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63EF04C-C377-2709-D693-64D052C9E971}"/>
              </a:ext>
            </a:extLst>
          </p:cNvPr>
          <p:cNvSpPr txBox="1"/>
          <p:nvPr/>
        </p:nvSpPr>
        <p:spPr>
          <a:xfrm>
            <a:off x="5241917" y="9870377"/>
            <a:ext cx="1165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br>
              <a:rPr lang="en-US" sz="600" b="0" i="0" dirty="0">
                <a:solidFill>
                  <a:srgbClr val="B0BED4"/>
                </a:solidFill>
                <a:latin typeface="Calibri"/>
              </a:rPr>
            </a:br>
            <a:r>
              <a:rPr lang="en-US" sz="600" b="0" i="0" dirty="0">
                <a:solidFill>
                  <a:srgbClr val="B0BED4"/>
                </a:solidFill>
                <a:latin typeface="Calibri"/>
              </a:rPr>
              <a:t>R068957J</a:t>
            </a:r>
            <a:endParaRPr sz="600" b="0" i="0" dirty="0">
              <a:solidFill>
                <a:srgbClr val="B0BED4"/>
              </a:solidFill>
              <a:latin typeface="Calibri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F499EBC-5950-111E-E3CC-6C96088CB4D1}"/>
              </a:ext>
            </a:extLst>
          </p:cNvPr>
          <p:cNvSpPr txBox="1"/>
          <p:nvPr/>
        </p:nvSpPr>
        <p:spPr>
          <a:xfrm>
            <a:off x="5241917" y="9724114"/>
            <a:ext cx="11655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b="1" i="0" dirty="0">
                <a:solidFill>
                  <a:srgbClr val="C9A84C"/>
                </a:solidFill>
                <a:latin typeface="Calibri"/>
              </a:rPr>
              <a:t>9833 8871</a:t>
            </a:r>
            <a:endParaRPr sz="1600" b="1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91475DB-ABD7-1BF9-84DE-83EB196426BE}"/>
              </a:ext>
            </a:extLst>
          </p:cNvPr>
          <p:cNvSpPr txBox="1"/>
          <p:nvPr/>
        </p:nvSpPr>
        <p:spPr>
          <a:xfrm>
            <a:off x="2963221" y="9554753"/>
            <a:ext cx="1583441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rgbClr val="C9A84C"/>
                </a:solidFill>
                <a:latin typeface="Calibri"/>
              </a:rPr>
              <a:t>CONTACT US FOR A </a:t>
            </a:r>
          </a:p>
          <a:p>
            <a:pPr algn="ctr"/>
            <a:r>
              <a:rPr lang="en-US" sz="1050" b="1" i="0" u="sng" dirty="0">
                <a:solidFill>
                  <a:srgbClr val="C00000"/>
                </a:solidFill>
                <a:latin typeface="Calibri"/>
              </a:rPr>
              <a:t>FREE</a:t>
            </a:r>
            <a:r>
              <a:rPr lang="en-US" sz="1000" b="1" i="0" dirty="0">
                <a:solidFill>
                  <a:srgbClr val="C9A84C"/>
                </a:solidFill>
                <a:latin typeface="Calibri"/>
              </a:rPr>
              <a:t> INDICATIVE VALUATION AND CONSULTATION TODAY!</a:t>
            </a:r>
            <a:endParaRPr sz="1000" b="1" i="0" dirty="0">
              <a:solidFill>
                <a:srgbClr val="C9A84C"/>
              </a:solidFill>
              <a:latin typeface="Calibri"/>
            </a:endParaRP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F2740892-B28A-F97C-1E22-10AAC9619F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1864" y="9662982"/>
            <a:ext cx="449708" cy="450613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AA3D7E5-E036-A445-DF80-03CCC82567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 flipV="1">
            <a:off x="4921166" y="9646126"/>
            <a:ext cx="448221" cy="449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15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804</Words>
  <Application>Microsoft Macintosh PowerPoint</Application>
  <PresentationFormat>Custom</PresentationFormat>
  <Paragraphs>114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Rio PANG Shi Xuan</cp:lastModifiedBy>
  <cp:revision>7</cp:revision>
  <cp:lastPrinted>2026-06-17T08:59:20Z</cp:lastPrinted>
  <dcterms:created xsi:type="dcterms:W3CDTF">2013-01-27T09:14:16Z</dcterms:created>
  <dcterms:modified xsi:type="dcterms:W3CDTF">2026-06-17T09:13:18Z</dcterms:modified>
  <cp:category/>
</cp:coreProperties>
</file>