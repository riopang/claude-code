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423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24231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Is now the right time
to sell your landed home?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3268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C9A84C"/>
                </a:solidFill>
                <a:latin typeface="Calibri"/>
              </a:rPr>
              <a:t>Thomson Garden Estate has seen 21 transactions in the last 12 months — and serious buyers are actively looking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182880"/>
            <a:ext cx="1572768" cy="2194560"/>
          </a:xfrm>
          <a:prstGeom prst="rect">
            <a:avLst/>
          </a:prstGeom>
          <a:solidFill>
            <a:srgbClr val="162338"/>
          </a:solidFill>
          <a:ln w="9525">
            <a:solidFill>
              <a:srgbClr val="2E4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59" y="237744"/>
            <a:ext cx="1481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9A84C"/>
                </a:solidFill>
                <a:latin typeface="Calibri"/>
              </a:rPr>
              <a:t>ERA SINGAPORE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438912"/>
            <a:ext cx="1298448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io_face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484632"/>
            <a:ext cx="1261872" cy="1261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2159" y="1801368"/>
            <a:ext cx="1481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Rio Pang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59" y="2002536"/>
            <a:ext cx="148132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0BED4"/>
                </a:solidFill>
                <a:latin typeface="Calibri"/>
              </a:rPr>
              <a:t>CEA No. R0702148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59" y="2167128"/>
            <a:ext cx="1481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Calibri"/>
              </a:rPr>
              <a:t>9183 1316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32888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2596896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+6.7%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026664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landed price growth
year-on-year (2025)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19122" y="2532888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73986" y="2596896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+73%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986" y="3026664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URA landed price index
Q1 2019 → Q1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81044" y="2532888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35907" y="2596896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21 deals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5907" y="3026664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Thomson Garden Estate
last 12 months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2966" y="2532888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97829" y="2596896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+46%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7829" y="3026664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ultra-wealthy buyer count
forecast by 2031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675887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WHY SELLERS ARE MOVING NOW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950207"/>
            <a:ext cx="4389120" cy="2395728"/>
          </a:xfrm>
          <a:prstGeom prst="rect">
            <a:avLst/>
          </a:prstGeom>
          <a:solidFill>
            <a:srgbClr val="F4F6FA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4096511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096511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07822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Prices up 6.7% YoY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270248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Strong market recovery — Q2/Q3 is peak transaction season.</a:t>
            </a:r>
          </a:p>
        </p:txBody>
      </p:sp>
      <p:sp>
        <p:nvSpPr>
          <p:cNvPr id="31" name="Oval 30"/>
          <p:cNvSpPr/>
          <p:nvPr/>
        </p:nvSpPr>
        <p:spPr>
          <a:xfrm>
            <a:off x="566928" y="4535424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535424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451713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Declining interest rates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4709160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SORA falling → buyer affordability improving → larger qualified buyer pool.</a:t>
            </a:r>
          </a:p>
        </p:txBody>
      </p:sp>
      <p:sp>
        <p:nvSpPr>
          <p:cNvPr id="35" name="Oval 34"/>
          <p:cNvSpPr/>
          <p:nvPr/>
        </p:nvSpPr>
        <p:spPr>
          <a:xfrm>
            <a:off x="566928" y="4974336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974336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" y="495604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Wealthiest buyer base ever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" y="5148072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Singapore UHNWI count up 55% in 5 years. Forecast: +46% more by 2031.</a:t>
            </a:r>
          </a:p>
        </p:txBody>
      </p:sp>
      <p:sp>
        <p:nvSpPr>
          <p:cNvPr id="39" name="Oval 38"/>
          <p:cNvSpPr/>
          <p:nvPr/>
        </p:nvSpPr>
        <p:spPr>
          <a:xfrm>
            <a:off x="566928" y="5413247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5413247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" y="5394959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Supply stays scarce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" y="5586983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Landed stock grew only 12% in 25 years vs 228% for non-landed condos.</a:t>
            </a:r>
          </a:p>
        </p:txBody>
      </p:sp>
      <p:sp>
        <p:nvSpPr>
          <p:cNvPr id="43" name="Oval 42"/>
          <p:cNvSpPr/>
          <p:nvPr/>
        </p:nvSpPr>
        <p:spPr>
          <a:xfrm>
            <a:off x="566928" y="5852159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5852159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" y="583387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60% ABSD for foreigners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" y="6025896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Landed stays exclusive to locals/PRs — buyers compete in a motivated pool.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3675887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THOMSON GARDEN ESTATE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3840479"/>
            <a:ext cx="235915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64748B"/>
                </a:solidFill>
                <a:latin typeface="Calibri"/>
              </a:rPr>
              <a:t>Jun 2025 – Jun 2026 · Freehold D20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0" y="3950207"/>
            <a:ext cx="2359152" cy="2395728"/>
          </a:xfrm>
          <a:prstGeom prst="rect">
            <a:avLst/>
          </a:prstGeom>
          <a:solidFill>
            <a:srgbClr val="F4F6FA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120640" y="4041648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93792" y="408736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Terrace (typical)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93792" y="428853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$2.65M–$4.35M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20640" y="4590288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93792" y="4636007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Terrace (large)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93792" y="4837175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$4.35M–$6.25M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20640" y="5138928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93792" y="518464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Semi-D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93792" y="538581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$5.70M–$7.20M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0" y="5687568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93792" y="57332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Avg Land PSF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93792" y="593445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$3,151 psf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0" y="6419088"/>
            <a:ext cx="23591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64748B"/>
                </a:solidFill>
                <a:latin typeface="Calibri"/>
              </a:rPr>
              <a:t>Source: URA REALIS (Jun 2025–Jun 2026)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400800"/>
            <a:ext cx="7562088" cy="12070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6400800"/>
            <a:ext cx="256032" cy="1207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4739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WHAT YOUR HOME COULD BE WORTH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6748272"/>
            <a:ext cx="68580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Based on 21 transactions in Thomson Garden Estate over the last 12 months, freehold terraces have transacted between $2.65M–$6.25M and semi-detached homes at $5.70M–$7.20M. Average land PSF: $3,151. Call me for a complimentary, no-obligation valuation of your specific home.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768096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HOW IT WORKS — THREE SIMPLE STEPS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7973568"/>
            <a:ext cx="2078736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313688" y="8037576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13688" y="80375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8467344"/>
            <a:ext cx="1895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B2A4A"/>
                </a:solidFill>
                <a:latin typeface="Calibri"/>
              </a:rPr>
              <a:t>Free property assessment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8741664"/>
            <a:ext cx="18958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I visit, assess condition, pull the latest comps and give you an honest, no-obligation valuation.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673096" y="7973568"/>
            <a:ext cx="2078736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529584" y="8037576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29584" y="80375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64536" y="8467344"/>
            <a:ext cx="1895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B2A4A"/>
                </a:solidFill>
                <a:latin typeface="Calibri"/>
              </a:rPr>
              <a:t>Marketing strategy meeting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64536" y="8741664"/>
            <a:ext cx="18958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We agree on the right price and approach. I'll show you exactly who the buyers are and how I'll reach them.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888992" y="7973568"/>
            <a:ext cx="2078736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45480" y="8037576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45480" y="80375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80432" y="8467344"/>
            <a:ext cx="1895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B2A4A"/>
                </a:solidFill>
                <a:latin typeface="Calibri"/>
              </a:rPr>
              <a:t>Sign listing &amp; launch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80432" y="8741664"/>
            <a:ext cx="18958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Professional photography within 5 days. Listing live within 7 days. Active buyer outreach starts immediately.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0" y="9619488"/>
            <a:ext cx="7562088" cy="987552"/>
          </a:xfrm>
          <a:prstGeom prst="rect">
            <a:avLst/>
          </a:prstGeom>
          <a:solidFill>
            <a:srgbClr val="16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0" y="9619488"/>
            <a:ext cx="256032" cy="9875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96926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Rio Pang 彭仕轩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9966960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ED4"/>
                </a:solidFill>
                <a:latin typeface="Calibri"/>
              </a:rPr>
              <a:t>ERA Singapore  |  CEA Reg. No. R0702148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0" y="969264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Calibri"/>
              </a:rPr>
              <a:t>9183 1316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0" y="99486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ED4"/>
                </a:solidFill>
                <a:latin typeface="Calibri"/>
              </a:rPr>
              <a:t>WhatsApp / Call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10396728"/>
            <a:ext cx="673912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64748B"/>
                </a:solidFill>
                <a:latin typeface="Calibri"/>
              </a:rPr>
              <a:t>Data sourced from URA REALIS (Jun 2025–Jun 2026). This flyer is for informational purposes only and does not constitute a formal valuation.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