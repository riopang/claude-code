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6949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Thinking of Selling
Your Landed Home?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7860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A84C"/>
                </a:solidFill>
                <a:latin typeface="Calibri"/>
              </a:rPr>
              <a:t>Your trusted landed property specialist in Singapore.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090672"/>
            <a:ext cx="40233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  <a:latin typeface="Calibri"/>
              </a:rPr>
              <a:t>Data-driven.  Results-focused.  Landed specialist.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4572000" cy="1143000"/>
          </a:xfrm>
          <a:prstGeom prst="rect">
            <a:avLst/>
          </a:prstGeom>
          <a:solidFill>
            <a:srgbClr val="162338"/>
          </a:solidFill>
          <a:ln w="12700">
            <a:solidFill>
              <a:srgbClr val="2E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7947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[INSERT: Agent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33087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[INSERT: CEA Reg. No.]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708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[INSERT: Mobile]  |  [INSERT: Email]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703320"/>
            <a:ext cx="1463040" cy="1143000"/>
          </a:xfrm>
          <a:prstGeom prst="rect">
            <a:avLst/>
          </a:prstGeom>
          <a:solidFill>
            <a:srgbClr val="162338"/>
          </a:solidFill>
          <a:ln w="12700">
            <a:solidFill>
              <a:srgbClr val="2E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977639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ERA
SINGAPORE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Singapore Landed — A Structurally Scarce Asset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606040" cy="1188720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2386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~75,000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92807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landed homes in Singapore
(~5–6% of housing stock)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4408" y="1325880"/>
            <a:ext cx="2606040" cy="1188720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1371600"/>
            <a:ext cx="2386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4136" y="1892807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supply growth over 25 years
(vs. +228% for non-landed condos)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325880"/>
            <a:ext cx="2606040" cy="1188720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371600"/>
            <a:ext cx="2386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892807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URA landed price index
Q1 2019 → Q1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Supply grew from 67,229 units (2000) to 75,338 units (2025) — just 12% over 25 years.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Non-landed condos grew 228% over the same period: 114,532 → 375,612 units.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The government releases very little new land for landed housing — this scarcity is permanent and structural.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Buyers recognise this: landed homes are a defensive, inflation-resistant asset that supply cannot scale to meet.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Result: landed prices have compounded even through multiple rounds of government cooling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MARKET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2026 Landed Market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011680" cy="987552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+6.7%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92807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YoY price growth
(landed, full year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325880"/>
            <a:ext cx="2011680" cy="987552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88336" y="137160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1892807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QoQ surge in Q4 2025
(strongest quarter)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16" y="1325880"/>
            <a:ext cx="2011680" cy="987552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137160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1892807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transaction value growth
(2025 vs 2024 YoY)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325880"/>
            <a:ext cx="2011680" cy="987552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37160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A4A"/>
                </a:solidFill>
                <a:latin typeface="Calibri"/>
              </a:rPr>
              <a:t>+5–7%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892807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ERA 2026 price forecast
(1,750–1,950 units)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450592"/>
          <a:ext cx="8229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 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Median Price (2026)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Terrace (Intermediate)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OCR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9A84C"/>
                          </a:solidFill>
                          <a:latin typeface="Calibri"/>
                        </a:rPr>
                        <a:t>$4.44M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Semi-Detached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9A84C"/>
                          </a:solidFill>
                          <a:latin typeface="Calibri"/>
                        </a:rPr>
                        <a:t>$5.75M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Detached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RCR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9A84C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Detached / GCB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CCR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9A84C"/>
                          </a:solidFill>
                          <a:latin typeface="Calibri"/>
                        </a:rPr>
                        <a:t>$16.825M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MARKET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Why Now Is the Right Time to Sell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solidFill>
            <a:srgbClr val="FDF6E3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1">
                <a:solidFill>
                  <a:srgbClr val="1B2A4A"/>
                </a:solidFill>
                <a:latin typeface="Calibri"/>
              </a:rPr>
              <a:t>Q1 seasonal dip = optimal listing window before Q2/Q3 demand surge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4114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SORA is declining → buyer affordability improving → larger qualified buyer pool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Singapore ultra-wealthy (US$30M+) grew 55% in 5 years: 4,642 → 7,171 in 2026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Knight Frank: UHNWI count forecast to grow a further 46% to 10,497 by 2031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29968"/>
            <a:ext cx="4114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25,000–30,000 new citizenships granted annually → steady UHNWI demand pipeline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60% ABSD for foreigners keeps landed as local/PR exclusive — buyers compete in a restricted, motivated pool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200">
                <a:solidFill>
                  <a:srgbClr val="1B2A4A"/>
                </a:solidFill>
                <a:latin typeface="Calibri"/>
              </a:rPr>
              <a:t>2025 landed transaction value up 15% YoY — momentum is building into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BUYER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Who Is Buying Landed in 2026?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2743200" cy="3474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57.9%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of all landed transactions
priced above $5M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B0BED4"/>
                </a:solidFill>
                <a:latin typeface="Calibri"/>
              </a:rPr>
              <a:t>Only 2.1% are HDB upgraders
(affordability barrier)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98448"/>
            <a:ext cx="530352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62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Multi-generational family wealth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6420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Upgrading within the landed tier; wealth preservation mindset.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76272"/>
            <a:ext cx="5303520" cy="777240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UHNWI / New Citizens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420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High-net-worth PRs &amp; new citizens; eligible pool +46% by 2031.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054096"/>
            <a:ext cx="530352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1181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Condo upgraders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4198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2026 new launches skew 1–2 bed; landlocked condo owners look to landed.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931920"/>
            <a:ext cx="5303520" cy="777240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Developer / redevelopment buyers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976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Buying to rebuild; broadens your buyer pool and exit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188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Key insight: the buyer pool is smaller but wealthier and more determined than 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What Drives Your Home's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624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62456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Condition of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39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Age, renovation quality, quality of fittings and finishes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9514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95144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Facing &amp;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Landmark views, park/greenery frontage, N-S orientation preferred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63824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2278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27832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Parking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6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Number of car porch spaces; covered vs uncovered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96512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6052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MRT &amp; 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9704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Walking distance to MRT, bus interchange, expressway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298448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3624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362456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School Catchment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691639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Primary school within 1km (P1 registration priority)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231136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29514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295144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Comparable PSF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624328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Recent transacted prices on same street and estate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163824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32278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227832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Neighbourhood Upgrading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557016"/>
            <a:ext cx="3364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HIP, road widening, new amenities — signals area trajectory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096512"/>
            <a:ext cx="406908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4169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+ BONUS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44398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Road Line Category &amp; Redevelopment Potential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PRICING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Current PSF Benchmarks by Zone (2026)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96596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389888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922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Terrace (Intermediate)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1136"/>
            <a:ext cx="16276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3042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2A4A"/>
                </a:solidFill>
                <a:latin typeface="Calibri"/>
              </a:rPr>
              <a:t>$1,100 – $1,400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779776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psf land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298448"/>
            <a:ext cx="196596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389888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7922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Semi-Detached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231136"/>
            <a:ext cx="16276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23042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2A4A"/>
                </a:solidFill>
                <a:latin typeface="Calibri"/>
              </a:rPr>
              <a:t>$1,200 – $1,600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779776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psf land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298448"/>
            <a:ext cx="196596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389888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RCR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7922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Terrace / Semi-D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2231136"/>
            <a:ext cx="16276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23042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2A4A"/>
                </a:solidFill>
                <a:latin typeface="Calibri"/>
              </a:rPr>
              <a:t>$1,500 – $2,000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779776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psf land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1298448"/>
            <a:ext cx="196596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1389888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Calibri"/>
              </a:rPr>
              <a:t>CCR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17922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D4"/>
                </a:solidFill>
                <a:latin typeface="Calibri"/>
              </a:rPr>
              <a:t>Detached / GCB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68312" y="2231136"/>
            <a:ext cx="16276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23042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$2,000 – $3,500+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2779776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4"/>
                </a:solidFill>
                <a:latin typeface="Calibri"/>
              </a:rPr>
              <a:t>psf land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67328"/>
            <a:ext cx="8229600" cy="74980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4048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  <a:latin typeface="Calibri"/>
              </a:rPr>
              <a:t>Freehold premium: +10–20% over 99-yr leasehold   |   Corner terrace premium: +15–25% over intermediate   |   Redevelopment potential adds 5–15% to buyer appetite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[INSERT: Your property's zone and indicative PSF range — to be completed before consultation]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FINANCIAL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Your Estimated Net Proceeds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2588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201168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Estimated Sale Price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$[AMOUNT]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Less: Agent Commission (2% + 9% GST)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−$[AMOUNT]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Less: CPF Refund + Accrued Interest (if applicable)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−$[AMOUNT]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Less: Outstanding Mortgage (if any)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−$[AMOUNT]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Less: Seller's Stamp Duty (SSD — if held &lt;3 years)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−$[AMOUNT]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Estimated Cash Proceeds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C9A84C"/>
                          </a:solidFill>
                          <a:latin typeface="Calibri"/>
                        </a:rPr>
                        <a:t>$[AMOUNT]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4590288"/>
            <a:ext cx="7315200" cy="347472"/>
          </a:xfrm>
          <a:prstGeom prst="rect">
            <a:avLst/>
          </a:prstGeom>
          <a:solidFill>
            <a:srgbClr val="E8EDF5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2686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Note: BSD (Buyer's Stamp Duty) is paid by the buyer, not the seller.  SSD: Tier 1 (&lt;1yr) 12% | Tier 2 (1–2yr) 8% | Tier 3 (2–3yr) 4%.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The Selling Journey — What to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" y="1837943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8379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965960" cy="2487168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Calibri"/>
              </a:rPr>
              <a:t>2–4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783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Staging &amp; property prep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Professional photography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Drone / aerial video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Pricing strategy</a:t>
            </a:r>
          </a:p>
        </p:txBody>
      </p:sp>
      <p:sp>
        <p:nvSpPr>
          <p:cNvPr id="11" name="Oval 10"/>
          <p:cNvSpPr/>
          <p:nvPr/>
        </p:nvSpPr>
        <p:spPr>
          <a:xfrm>
            <a:off x="3319272" y="1837943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8379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377440"/>
            <a:ext cx="1965960" cy="2487168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450592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Active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61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Calibri"/>
              </a:rPr>
              <a:t>4–8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63240"/>
            <a:ext cx="1783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PropertyGuru listing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ERA network activation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Buyer outreach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Viewings &amp; feedback</a:t>
            </a:r>
          </a:p>
        </p:txBody>
      </p:sp>
      <p:sp>
        <p:nvSpPr>
          <p:cNvPr id="17" name="Oval 16"/>
          <p:cNvSpPr/>
          <p:nvPr/>
        </p:nvSpPr>
        <p:spPr>
          <a:xfrm>
            <a:off x="5468112" y="1837943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18379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377440"/>
            <a:ext cx="1965960" cy="2487168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450592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OTP &amp; 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61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Calibri"/>
              </a:rPr>
              <a:t>1–2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063240"/>
            <a:ext cx="1783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Offer received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Option to Purchase issued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14-day exercise period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Terms negotiated</a:t>
            </a:r>
          </a:p>
        </p:txBody>
      </p:sp>
      <p:sp>
        <p:nvSpPr>
          <p:cNvPr id="23" name="Oval 22"/>
          <p:cNvSpPr/>
          <p:nvPr/>
        </p:nvSpPr>
        <p:spPr>
          <a:xfrm>
            <a:off x="7616952" y="1837943"/>
            <a:ext cx="384048" cy="38404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8379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377440"/>
            <a:ext cx="1965960" cy="2487168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450592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761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A84C"/>
                </a:solidFill>
                <a:latin typeface="Calibri"/>
              </a:rPr>
              <a:t>8–12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063240"/>
            <a:ext cx="1783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Conveyancing by lawyers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CPF refund processed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Loan redemption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000">
                <a:solidFill>
                  <a:srgbClr val="1B2A4A"/>
                </a:solidFill>
                <a:latin typeface="Calibri"/>
              </a:rPr>
              <a:t>Key handover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Typical total timeline: 3–6 months from signed listing to key handover.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MARKETING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How I Will Market Your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4069080" cy="3566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17720" y="1298448"/>
            <a:ext cx="4069080" cy="356616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84C"/>
                </a:solidFill>
                <a:latin typeface="Calibri"/>
              </a:rPr>
              <a:t>PHOTOGRAPHY &amp;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E0E8F5"/>
                </a:solidFill>
                <a:latin typeface="Calibri"/>
              </a:rPr>
              <a:t>360° interior photography with professional gimbal rig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E0E8F5"/>
                </a:solidFill>
                <a:latin typeface="Calibri"/>
              </a:rPr>
              <a:t>Architectural highlights: staircase, marble, pool, lifestyle spaces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E0E8F5"/>
                </a:solidFill>
                <a:latin typeface="Calibri"/>
              </a:rPr>
              <a:t>Drone / aerial video showcasing land area and surroundings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E0E8F5"/>
                </a:solidFill>
                <a:latin typeface="Calibri"/>
              </a:rPr>
              <a:t>Professional video walkthrough for online listings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E0E8F5"/>
                </a:solidFill>
                <a:latin typeface="Calibri"/>
              </a:rPr>
              <a:t>Staged photography — room-by-room with natural lighting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898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DISTRIBUTION &amp; OUTREACH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PropertyGuru Premium + ERA PropTrack listing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ERA Singapore network: 7,000+ active agents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ERA Asia-Pacific network for UHNWI &amp; overseas PR buyers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Targeted door-knock outreach to direct buyers in your estate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Instagram &amp; Facebook social media campaign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Weekly seller report: viewings, enquiry quality, market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SPECIALIST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Technical Advisory — Why a Specialist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8229600" cy="566928"/>
          </a:xfrm>
          <a:prstGeom prst="rect">
            <a:avLst/>
          </a:prstGeom>
          <a:solidFill>
            <a:srgbClr val="FDF6E3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B2A4A"/>
                </a:solidFill>
                <a:latin typeface="Calibri"/>
              </a:rPr>
              <a:t>Serious buyers — especially redevelopment buyers — ask technical questions. An agent who answers them on the spot wins the listing and closes faster.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93392"/>
            <a:ext cx="40690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Road Line Category (CAT 1–5)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Determines required front setback; CAT 1–2 roads may require land take-back, affecting buildable area.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80944"/>
            <a:ext cx="40690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SIP / DIP / WSP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Sewerage Information Plan, Drainage Interpretation Plan, Water Service Plan — critical pre-redevelopment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68496"/>
            <a:ext cx="40690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50791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Tree Conservation Areas (TCA)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70832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South/Eastern zones; removal costs $150–$600/tree; must be considered in site planning.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993392"/>
            <a:ext cx="4069080" cy="868680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7568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Redevelopment Cost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395728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Rebuild from scratch: $800K+, 1.5–2.5 years. Reconstruction: 1–2 years. A&amp;A: 6 months+.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980944"/>
            <a:ext cx="4069080" cy="868680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0632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Pool &amp; Lift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38328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Concrete pool: $150K–$300K | Fibreglass: $30K–$60K. Home lift installation: $30K–$100K+.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968496"/>
            <a:ext cx="4069080" cy="868680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050791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Envelope Control &amp; Zoning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370832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2-storey vs 3-storey rebuild potential; gross plot ratio; URA planning parameters for your property.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WEALTH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What Happens After You Sell — Your Next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965960" cy="239572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371600"/>
            <a:ext cx="18105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C9A84C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19456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17830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D4"/>
                </a:solidFill>
                <a:latin typeface="Calibri"/>
              </a:rPr>
              <a:t>Unlock home equity tied up in your property. Redeploy as liquid capital or down-payment for your next move.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98448"/>
            <a:ext cx="1965960" cy="23957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371600"/>
            <a:ext cx="18105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C9A84C"/>
                </a:solidFill>
                <a:latin typeface="Calibri"/>
              </a:rP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9456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2A4A"/>
                </a:solidFill>
                <a:latin typeface="Calibri"/>
              </a:rPr>
              <a:t>Work 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78608"/>
            <a:ext cx="17830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As your income grows, your borrowing capacity expands — upgrade to the next tier of property.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98448"/>
            <a:ext cx="1965960" cy="239572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371600"/>
            <a:ext cx="18105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C9A84C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9456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Appreciation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78608"/>
            <a:ext cx="17830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D4"/>
                </a:solidFill>
                <a:latin typeface="Calibri"/>
              </a:rPr>
              <a:t>Strategic property swaps have historically generated $400K–$500K in net gains within 5–7 years.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298448"/>
            <a:ext cx="1965960" cy="23957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371600"/>
            <a:ext cx="18105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C9A84C"/>
                </a:solidFill>
                <a:latin typeface="Calibr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19456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2A4A"/>
                </a:solidFill>
                <a:latin typeface="Calibri"/>
              </a:rPr>
              <a:t>Principal Paydown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78608"/>
            <a:ext cx="17830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Each mortgage payment builds equity. At sale, those gains compound into your next purchase.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22191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895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RIGHT-SIZE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0624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Sell your landed, move to a condo — unlock $2M+ cash, reduce maintenance burden.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822191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3895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20624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Proceeds from your landed can fund a GCB or prime district (D10/D11) detached.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822191"/>
            <a:ext cx="2651760" cy="1005840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895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INVEST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20624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Deploy proceeds into income-generating properties for wealth accumulation and retirement.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MY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My Track Record in Landed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RECENT TRANSACTIONS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0292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097280"/>
                <a:gridCol w="822960"/>
              </a:tblGrid>
              <a:tr h="4457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Address / District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[INSERT: Address]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[Type]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$[X]M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[X] days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[INSERT: Address]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[Type]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$[X]M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[X]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[INSERT: Address]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[Type]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$[X]M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A4A"/>
                          </a:solidFill>
                          <a:latin typeface="Calibri"/>
                        </a:rPr>
                        <a:t>[X] days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478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CEA Registered Salesperson (RES)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ERA Landed Expert Series — all 5 modules completed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ERA PropNett Network member</a:t>
            </a:r>
          </a:p>
          <a:p>
            <a:pPr algn="l">
              <a:buChar char="•"/>
              <a:buFont typeface="Arial"/>
              <a:spcAft>
                <a:spcPts val="600"/>
              </a:spcAft>
              <a:ind marL="201168" indent="-201168"/>
            </a:pPr>
            <a:r>
              <a:rPr sz="1100">
                <a:solidFill>
                  <a:srgbClr val="1B2A4A"/>
                </a:solidFill>
                <a:latin typeface="Calibri"/>
              </a:rPr>
              <a:t>Districts served: [INSERT districts]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CLIENT TESTIMONIALS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45920"/>
            <a:ext cx="3017520" cy="1444752"/>
          </a:xfrm>
          <a:prstGeom prst="rect">
            <a:avLst/>
          </a:prstGeom>
          <a:solidFill>
            <a:srgbClr val="E8EDF5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7556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A4A"/>
                </a:solidFill>
                <a:latin typeface="Calibri"/>
              </a:rPr>
              <a:t>"[INSERT: Client testimonial — 1–2 sentences about the experience of selling through you.]"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— [Client Name], [Type], [District]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273552"/>
            <a:ext cx="3017520" cy="1444752"/>
          </a:xfrm>
          <a:prstGeom prst="rect">
            <a:avLst/>
          </a:prstGeom>
          <a:solidFill>
            <a:srgbClr val="E8EDF5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A4A"/>
                </a:solidFill>
                <a:latin typeface="Calibri"/>
              </a:rPr>
              <a:t>"[INSERT: Client testimonial — 1–2 sentences about the experience of selling through you.]"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708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alibri"/>
              </a:rPr>
              <a:t>— [Client Name], [Type], [District]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MY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My 7-Point Marketing Promise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4996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624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Photography &amp; Drone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007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Professional shoot within 5 days. 360°, gimbal interior, drone aerial, lifestyle video.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31136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24323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32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95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Listing Goes Live in 7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33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PropertyGuru Premium + ERA PropTrack activated within 1 week of signing.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3824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33649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3649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27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10+ Qualified Buyer Contacts/Week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Minimum 10 targeted outreach contacts per week during active campaign.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96512"/>
            <a:ext cx="406908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42976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97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60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Weekly Seller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988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Viewings count, enquiry quality, market feedback, next steps — in writing every week.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298448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73168" y="14996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499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13624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Technical Advisory On-Demand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17007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Road line, SIP/DIP, redevelopment Q&amp;A — answered on the spot for serious buyers.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31136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73168" y="24323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2432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295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Full Negotiation Representation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2633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I represent your interests at OTP stage: pricing, conditions, timeline, deposit.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163824"/>
            <a:ext cx="4069080" cy="8046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3168" y="33649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33649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3227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After-Sale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56616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CPF refund coordination, key handover checklist, referrals for solicitors and movers.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COMMON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Frequently Asked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4069080" cy="17190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444751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389888"/>
            <a:ext cx="3401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Do I need to move out before the property is marketed?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116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56815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 — we can market with you in residence. Professional staging and photography work around your schedule. Occupied properties often photograph better with furniture.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27248"/>
            <a:ext cx="4069080" cy="1719072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3273552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273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218688"/>
            <a:ext cx="3401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How long will it realistically take to sell?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8404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40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85615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Well-priced landed homes in active districts typically receive offers within 4–8 weeks. Total timeline: 3–6 months including legal completion.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298448"/>
            <a:ext cx="4069080" cy="17190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444751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44475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1389888"/>
            <a:ext cx="3401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What if a buyer wants to redevelop my property?</a:t>
            </a:r>
          </a:p>
        </p:txBody>
      </p:sp>
      <p:sp>
        <p:nvSpPr>
          <p:cNvPr id="22" name="Oval 21"/>
          <p:cNvSpPr/>
          <p:nvPr/>
        </p:nvSpPr>
        <p:spPr>
          <a:xfrm>
            <a:off x="4773168" y="20116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011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1956815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This broadens your buyer pool — redevelopment buyers are often cash-rich and motivated. I advise on redevelopment potential, BCA process, and pricing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127248"/>
            <a:ext cx="4069080" cy="1719072"/>
          </a:xfrm>
          <a:prstGeom prst="rect">
            <a:avLst/>
          </a:prstGeom>
          <a:solidFill>
            <a:srgbClr val="FDF6E3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73168" y="3273552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273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218688"/>
            <a:ext cx="3401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What happens to my CPF monies when I sell?</a:t>
            </a:r>
          </a:p>
        </p:txBody>
      </p:sp>
      <p:sp>
        <p:nvSpPr>
          <p:cNvPr id="29" name="Oval 28"/>
          <p:cNvSpPr/>
          <p:nvPr/>
        </p:nvSpPr>
        <p:spPr>
          <a:xfrm>
            <a:off x="4773168" y="38404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840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785615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CPF OA principal used + accrued interest (at CPF OA rate, currently 2.5% p.a.) must be fully refunded to your CPF OA upon sale. I will walk you through the exact calculation.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Let's 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C9A84C"/>
                </a:solidFill>
                <a:latin typeface="Calibri"/>
              </a:rPr>
              <a:t>Three simple steps to finding out what your home is worth today.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651760" cy="2423160"/>
          </a:xfrm>
          <a:prstGeom prst="rect">
            <a:avLst/>
          </a:prstGeom>
          <a:solidFill>
            <a:srgbClr val="16233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426464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Free Property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23774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I visit your home, assess condition, run recent comps, and give you an honest indicative valuation. No strings attached.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2651760" cy="2423160"/>
          </a:xfrm>
          <a:prstGeom prst="rect">
            <a:avLst/>
          </a:prstGeom>
          <a:solidFill>
            <a:srgbClr val="16233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426464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084831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Marketing Strategy 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42032"/>
            <a:ext cx="23774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We agree on the right price, launch timing, and marketing approach. I share the comparable transactions most relevant to your home.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25880"/>
            <a:ext cx="2651760" cy="2423160"/>
          </a:xfrm>
          <a:prstGeom prst="rect">
            <a:avLst/>
          </a:prstGeom>
          <a:solidFill>
            <a:srgbClr val="16233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1426464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084831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Sign &amp;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42032"/>
            <a:ext cx="23774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We sign the exclusive listing. Photography within 5 days, listing live within 7 days, buyer outreach begins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0F1D32"/>
          </a:solidFill>
          <a:ln w="6350">
            <a:solidFill>
              <a:srgbClr val="2E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867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[INSERT: Agent 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[INSERT: CEA Reg. No.] | ERA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9867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[INSERT: Mobile / WhatsApp]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15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A84C"/>
                </a:solidFill>
                <a:latin typeface="Calibri"/>
              </a:rPr>
              <a:t>[INSERT: Email Address]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3931920"/>
            <a:ext cx="1463040" cy="914400"/>
          </a:xfrm>
          <a:prstGeom prst="rect">
            <a:avLst/>
          </a:prstGeom>
          <a:solidFill>
            <a:srgbClr val="162338"/>
          </a:solidFill>
          <a:ln w="6350">
            <a:solidFill>
              <a:srgbClr val="2E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60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ERA
SINGAPORE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